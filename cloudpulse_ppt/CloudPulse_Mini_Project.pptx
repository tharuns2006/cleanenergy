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1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99f78943-1b45-783a-fd84-e341e9b71ce7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Design" id="{13ee294f-6b3f-9e82-aaf7-ca014564f03f}">
          <p14:sldIdLst>
            <p14:sldId id="264"/>
            <p14:sldId id="265"/>
            <p14:sldId id="266"/>
            <p14:sldId id="267"/>
          </p14:sldIdLst>
        </p14:section>
        <p14:section name="Methodology" id="{d41c2b48-0a47-280e-8409-b2fcda731517}">
          <p14:sldIdLst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Build and Test" id="{53f9d725-efff-fb3f-ebbc-debe4d0b07d1}">
          <p14:sldIdLst>
            <p14:sldId id="274"/>
            <p14:sldId id="275"/>
            <p14:sldId id="276"/>
          </p14:sldIdLst>
        </p14:section>
        <p14:section name="Results" id="{576e5382-f265-b7f2-17d7-5210fff058d3}">
          <p14:sldIdLst>
            <p14:sldId id="277"/>
            <p14:sldId id="278"/>
            <p14:sldId id="279"/>
            <p14:sldId id="280"/>
          </p14:sldIdLst>
        </p14:section>
        <p14:section name="Wrap-up" id="{a76bb715-107e-57a4-76b5-2d323d497ec2}">
          <p14:sldIdLst>
            <p14:sldId id="281"/>
            <p14:sldId id="282"/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A1A1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A1A1A"/>
                </a:solidFill>
                <a:latin typeface="+mn-lt"/>
              </a:rPr>
              <a:t>Tests per suite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Tests</c:v>
                </c:pt>
              </c:strCache>
            </c:strRef>
          </c:tx>
          <c:spPr>
            <a:solidFill>
              <a:srgbClr val="1E3A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Algorithms</c:v>
                  </c:pt>
                  <c:pt idx="1">
                    <c:v>Full loop, fake Azure</c:v>
                  </c:pt>
                  <c:pt idx="2">
                    <c:v>Front end, diagnostics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</c:v>
                </c:pt>
                <c:pt idx="1">
                  <c:v>1</c:v>
                </c:pt>
                <c:pt idx="2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A1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team, the project title and the guide.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are from the bundled FOCUS sample bill used in demo mode.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Incremental, test-first approach; each stage kept the previous tests passing.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d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2801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280160"/>
            <a:ext cx="9144000" cy="73152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365760" y="1280160"/>
            <a:ext cx="84124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922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922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365760" y="12801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DISTRIBUTED CLOUD COMPUTING MINI PROJECT</a:t>
            </a:r>
            <a:endParaRPr lang="en-US" sz="3000" dirty="0"/>
          </a:p>
        </p:txBody>
      </p:sp>
      <p:sp>
        <p:nvSpPr>
          <p:cNvPr id="3" name="Project Title label"/>
          <p:cNvSpPr txBox="1"/>
          <p:nvPr/>
        </p:nvSpPr>
        <p:spPr>
          <a:xfrm>
            <a:off x="365760" y="2194560"/>
            <a:ext cx="274320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Project Title</a:t>
            </a:r>
            <a:endParaRPr lang="en-US" sz="1800" dirty="0"/>
          </a:p>
        </p:txBody>
      </p:sp>
      <p:sp>
        <p:nvSpPr>
          <p:cNvPr id="4" name="Project Title value"/>
          <p:cNvSpPr txBox="1"/>
          <p:nvPr/>
        </p:nvSpPr>
        <p:spPr>
          <a:xfrm>
            <a:off x="3200400" y="2194560"/>
            <a:ext cx="557784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CloudPulse: A Cloud Cost Monitoring and Optimization Platform</a:t>
            </a:r>
            <a:endParaRPr lang="en-US" sz="2000" dirty="0"/>
          </a:p>
        </p:txBody>
      </p:sp>
      <p:sp>
        <p:nvSpPr>
          <p:cNvPr id="5" name="Row band Name of the Student"/>
          <p:cNvSpPr/>
          <p:nvPr/>
        </p:nvSpPr>
        <p:spPr>
          <a:xfrm>
            <a:off x="274320" y="2971800"/>
            <a:ext cx="8595360" cy="9144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Name of the Student label"/>
          <p:cNvSpPr txBox="1"/>
          <p:nvPr/>
        </p:nvSpPr>
        <p:spPr>
          <a:xfrm>
            <a:off x="365760" y="2971800"/>
            <a:ext cx="274320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Name of the Student</a:t>
            </a:r>
            <a:endParaRPr lang="en-US" sz="1800" dirty="0"/>
          </a:p>
        </p:txBody>
      </p:sp>
      <p:sp>
        <p:nvSpPr>
          <p:cNvPr id="7" name="Name of the Student value"/>
          <p:cNvSpPr txBox="1"/>
          <p:nvPr/>
        </p:nvSpPr>
        <p:spPr>
          <a:xfrm>
            <a:off x="3200400" y="2971800"/>
            <a:ext cx="557784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TAMIL MANI B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VISHNU VARDHAN S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YUVARAJ U</a:t>
            </a:r>
            <a:endParaRPr lang="en-US" sz="1700" dirty="0"/>
          </a:p>
        </p:txBody>
      </p:sp>
      <p:sp>
        <p:nvSpPr>
          <p:cNvPr id="8" name="Register Number label"/>
          <p:cNvSpPr txBox="1"/>
          <p:nvPr/>
        </p:nvSpPr>
        <p:spPr>
          <a:xfrm>
            <a:off x="365760" y="3886200"/>
            <a:ext cx="274320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Register Number</a:t>
            </a:r>
            <a:endParaRPr lang="en-US" sz="1800" dirty="0"/>
          </a:p>
        </p:txBody>
      </p:sp>
      <p:sp>
        <p:nvSpPr>
          <p:cNvPr id="9" name="Register Number value"/>
          <p:cNvSpPr txBox="1"/>
          <p:nvPr/>
        </p:nvSpPr>
        <p:spPr>
          <a:xfrm>
            <a:off x="3200400" y="3886200"/>
            <a:ext cx="557784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111624102217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111624102240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111624102247</a:t>
            </a:r>
            <a:endParaRPr lang="en-US" sz="1700" dirty="0"/>
          </a:p>
        </p:txBody>
      </p:sp>
      <p:sp>
        <p:nvSpPr>
          <p:cNvPr id="10" name="Row band Year / Semester"/>
          <p:cNvSpPr/>
          <p:nvPr/>
        </p:nvSpPr>
        <p:spPr>
          <a:xfrm>
            <a:off x="274320" y="4800600"/>
            <a:ext cx="8595360" cy="457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Year / Semester label"/>
          <p:cNvSpPr txBox="1"/>
          <p:nvPr/>
        </p:nvSpPr>
        <p:spPr>
          <a:xfrm>
            <a:off x="365760" y="4800600"/>
            <a:ext cx="27432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Year / Semester</a:t>
            </a:r>
            <a:endParaRPr lang="en-US" sz="1800" dirty="0"/>
          </a:p>
        </p:txBody>
      </p:sp>
      <p:sp>
        <p:nvSpPr>
          <p:cNvPr id="12" name="Year / Semester value"/>
          <p:cNvSpPr txBox="1"/>
          <p:nvPr/>
        </p:nvSpPr>
        <p:spPr>
          <a:xfrm>
            <a:off x="3200400" y="4800600"/>
            <a:ext cx="557784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3 / 5</a:t>
            </a:r>
            <a:endParaRPr lang="en-US" sz="1700" dirty="0"/>
          </a:p>
        </p:txBody>
      </p:sp>
      <p:sp>
        <p:nvSpPr>
          <p:cNvPr id="13" name="Academic Year label"/>
          <p:cNvSpPr txBox="1"/>
          <p:nvPr/>
        </p:nvSpPr>
        <p:spPr>
          <a:xfrm>
            <a:off x="365760" y="5257800"/>
            <a:ext cx="27432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Academic Year</a:t>
            </a:r>
            <a:endParaRPr lang="en-US" sz="1800" dirty="0"/>
          </a:p>
        </p:txBody>
      </p:sp>
      <p:sp>
        <p:nvSpPr>
          <p:cNvPr id="14" name="Academic Year value"/>
          <p:cNvSpPr txBox="1"/>
          <p:nvPr/>
        </p:nvSpPr>
        <p:spPr>
          <a:xfrm>
            <a:off x="3200400" y="5257800"/>
            <a:ext cx="557784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2026-2027</a:t>
            </a:r>
            <a:endParaRPr lang="en-US" sz="1700" dirty="0"/>
          </a:p>
        </p:txBody>
      </p:sp>
      <p:sp>
        <p:nvSpPr>
          <p:cNvPr id="15" name="Row band Project Guide"/>
          <p:cNvSpPr/>
          <p:nvPr/>
        </p:nvSpPr>
        <p:spPr>
          <a:xfrm>
            <a:off x="274320" y="5715000"/>
            <a:ext cx="8595360" cy="640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Project Guide label"/>
          <p:cNvSpPr txBox="1"/>
          <p:nvPr/>
        </p:nvSpPr>
        <p:spPr>
          <a:xfrm>
            <a:off x="365760" y="5715000"/>
            <a:ext cx="27432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Project Guide</a:t>
            </a:r>
            <a:endParaRPr lang="en-US" sz="1800" dirty="0"/>
          </a:p>
        </p:txBody>
      </p:sp>
      <p:sp>
        <p:nvSpPr>
          <p:cNvPr id="17" name="Project Guide value"/>
          <p:cNvSpPr txBox="1"/>
          <p:nvPr/>
        </p:nvSpPr>
        <p:spPr>
          <a:xfrm>
            <a:off x="3200400" y="5715000"/>
            <a:ext cx="557784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Dr. Sheela Rani, Associate Professor, Dept. of CSE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922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365760" y="12801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TABLE OF CONTENTS</a:t>
            </a:r>
            <a:endParaRPr lang="en-US" sz="3000" dirty="0"/>
          </a:p>
        </p:txBody>
      </p:sp>
      <p:sp>
        <p:nvSpPr>
          <p:cNvPr id="3" name="TOC card 1"/>
          <p:cNvSpPr/>
          <p:nvPr/>
        </p:nvSpPr>
        <p:spPr>
          <a:xfrm>
            <a:off x="548640" y="2286000"/>
            <a:ext cx="384048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TOC number 1"/>
          <p:cNvSpPr/>
          <p:nvPr/>
        </p:nvSpPr>
        <p:spPr>
          <a:xfrm>
            <a:off x="640080" y="2377440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5" name="TOC number 1 number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OC item 1"/>
          <p:cNvSpPr txBox="1"/>
          <p:nvPr/>
        </p:nvSpPr>
        <p:spPr>
          <a:xfrm>
            <a:off x="1143000" y="2286000"/>
            <a:ext cx="315468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Abstract</a:t>
            </a:r>
            <a:endParaRPr lang="en-US" sz="1800" dirty="0"/>
          </a:p>
        </p:txBody>
      </p:sp>
      <p:sp>
        <p:nvSpPr>
          <p:cNvPr id="7" name="TOC card 2"/>
          <p:cNvSpPr/>
          <p:nvPr/>
        </p:nvSpPr>
        <p:spPr>
          <a:xfrm>
            <a:off x="548640" y="2971800"/>
            <a:ext cx="384048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8" name="TOC number 2"/>
          <p:cNvSpPr/>
          <p:nvPr/>
        </p:nvSpPr>
        <p:spPr>
          <a:xfrm>
            <a:off x="640080" y="3063240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9" name="TOC number 2 number"/>
          <p:cNvSpPr txBox="1"/>
          <p:nvPr/>
        </p:nvSpPr>
        <p:spPr>
          <a:xfrm>
            <a:off x="64008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0" name="TOC item 2"/>
          <p:cNvSpPr txBox="1"/>
          <p:nvPr/>
        </p:nvSpPr>
        <p:spPr>
          <a:xfrm>
            <a:off x="1143000" y="2971800"/>
            <a:ext cx="315468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Problem Statement</a:t>
            </a:r>
            <a:endParaRPr lang="en-US" sz="1800" dirty="0"/>
          </a:p>
        </p:txBody>
      </p:sp>
      <p:sp>
        <p:nvSpPr>
          <p:cNvPr id="11" name="TOC card 3"/>
          <p:cNvSpPr/>
          <p:nvPr/>
        </p:nvSpPr>
        <p:spPr>
          <a:xfrm>
            <a:off x="548640" y="3657600"/>
            <a:ext cx="384048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2" name="TOC number 3"/>
          <p:cNvSpPr/>
          <p:nvPr/>
        </p:nvSpPr>
        <p:spPr>
          <a:xfrm>
            <a:off x="640080" y="3749040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3" name="TOC number 3 number"/>
          <p:cNvSpPr txBox="1"/>
          <p:nvPr/>
        </p:nvSpPr>
        <p:spPr>
          <a:xfrm>
            <a:off x="64008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4" name="TOC item 3"/>
          <p:cNvSpPr txBox="1"/>
          <p:nvPr/>
        </p:nvSpPr>
        <p:spPr>
          <a:xfrm>
            <a:off x="1143000" y="3657600"/>
            <a:ext cx="315468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Objectives</a:t>
            </a:r>
            <a:endParaRPr lang="en-US" sz="1800" dirty="0"/>
          </a:p>
        </p:txBody>
      </p:sp>
      <p:sp>
        <p:nvSpPr>
          <p:cNvPr id="15" name="TOC card 4"/>
          <p:cNvSpPr/>
          <p:nvPr/>
        </p:nvSpPr>
        <p:spPr>
          <a:xfrm>
            <a:off x="548640" y="4343400"/>
            <a:ext cx="384048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6" name="TOC number 4"/>
          <p:cNvSpPr/>
          <p:nvPr/>
        </p:nvSpPr>
        <p:spPr>
          <a:xfrm>
            <a:off x="640080" y="4434840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7" name="TOC number 4 number"/>
          <p:cNvSpPr txBox="1"/>
          <p:nvPr/>
        </p:nvSpPr>
        <p:spPr>
          <a:xfrm>
            <a:off x="640080" y="4434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8" name="TOC item 4"/>
          <p:cNvSpPr txBox="1"/>
          <p:nvPr/>
        </p:nvSpPr>
        <p:spPr>
          <a:xfrm>
            <a:off x="1143000" y="4343400"/>
            <a:ext cx="315468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Task and Outcomes</a:t>
            </a:r>
            <a:endParaRPr lang="en-US" sz="1800" dirty="0"/>
          </a:p>
        </p:txBody>
      </p:sp>
      <p:sp>
        <p:nvSpPr>
          <p:cNvPr id="19" name="TOC card 5"/>
          <p:cNvSpPr/>
          <p:nvPr/>
        </p:nvSpPr>
        <p:spPr>
          <a:xfrm>
            <a:off x="548640" y="5029200"/>
            <a:ext cx="384048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0" name="TOC number 5"/>
          <p:cNvSpPr/>
          <p:nvPr/>
        </p:nvSpPr>
        <p:spPr>
          <a:xfrm>
            <a:off x="640080" y="5120640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1" name="TOC number 5 number"/>
          <p:cNvSpPr txBox="1"/>
          <p:nvPr/>
        </p:nvSpPr>
        <p:spPr>
          <a:xfrm>
            <a:off x="640080" y="5120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22" name="TOC item 5"/>
          <p:cNvSpPr txBox="1"/>
          <p:nvPr/>
        </p:nvSpPr>
        <p:spPr>
          <a:xfrm>
            <a:off x="1143000" y="5029200"/>
            <a:ext cx="315468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Plan of the Project</a:t>
            </a:r>
            <a:endParaRPr lang="en-US" sz="1800" dirty="0"/>
          </a:p>
        </p:txBody>
      </p:sp>
      <p:sp>
        <p:nvSpPr>
          <p:cNvPr id="23" name="TOC card 6"/>
          <p:cNvSpPr/>
          <p:nvPr/>
        </p:nvSpPr>
        <p:spPr>
          <a:xfrm>
            <a:off x="548640" y="5715000"/>
            <a:ext cx="384048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4" name="TOC number 6"/>
          <p:cNvSpPr/>
          <p:nvPr/>
        </p:nvSpPr>
        <p:spPr>
          <a:xfrm>
            <a:off x="640080" y="5806440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5" name="TOC number 6 number"/>
          <p:cNvSpPr txBox="1"/>
          <p:nvPr/>
        </p:nvSpPr>
        <p:spPr>
          <a:xfrm>
            <a:off x="640080" y="5806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6</a:t>
            </a:r>
            <a:endParaRPr lang="en-US" sz="1500" dirty="0"/>
          </a:p>
        </p:txBody>
      </p:sp>
      <p:sp>
        <p:nvSpPr>
          <p:cNvPr id="26" name="TOC item 6"/>
          <p:cNvSpPr txBox="1"/>
          <p:nvPr/>
        </p:nvSpPr>
        <p:spPr>
          <a:xfrm>
            <a:off x="1143000" y="5715000"/>
            <a:ext cx="315468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Tools and Technologies</a:t>
            </a:r>
            <a:endParaRPr lang="en-US" sz="1800" dirty="0"/>
          </a:p>
        </p:txBody>
      </p:sp>
      <p:sp>
        <p:nvSpPr>
          <p:cNvPr id="27" name="TOC card 7"/>
          <p:cNvSpPr/>
          <p:nvPr/>
        </p:nvSpPr>
        <p:spPr>
          <a:xfrm>
            <a:off x="4663440" y="2286000"/>
            <a:ext cx="384048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8" name="TOC number 7"/>
          <p:cNvSpPr/>
          <p:nvPr/>
        </p:nvSpPr>
        <p:spPr>
          <a:xfrm>
            <a:off x="4754880" y="2377440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9" name="TOC number 7 number"/>
          <p:cNvSpPr txBox="1"/>
          <p:nvPr/>
        </p:nvSpPr>
        <p:spPr>
          <a:xfrm>
            <a:off x="47548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7</a:t>
            </a:r>
            <a:endParaRPr lang="en-US" sz="1500" dirty="0"/>
          </a:p>
        </p:txBody>
      </p:sp>
      <p:sp>
        <p:nvSpPr>
          <p:cNvPr id="30" name="TOC item 7"/>
          <p:cNvSpPr txBox="1"/>
          <p:nvPr/>
        </p:nvSpPr>
        <p:spPr>
          <a:xfrm>
            <a:off x="5257800" y="2286000"/>
            <a:ext cx="315468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System Architecture</a:t>
            </a:r>
            <a:endParaRPr lang="en-US" sz="1800" dirty="0"/>
          </a:p>
        </p:txBody>
      </p:sp>
      <p:sp>
        <p:nvSpPr>
          <p:cNvPr id="31" name="TOC card 8"/>
          <p:cNvSpPr/>
          <p:nvPr/>
        </p:nvSpPr>
        <p:spPr>
          <a:xfrm>
            <a:off x="4663440" y="2971800"/>
            <a:ext cx="384048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32" name="TOC number 8"/>
          <p:cNvSpPr/>
          <p:nvPr/>
        </p:nvSpPr>
        <p:spPr>
          <a:xfrm>
            <a:off x="4754880" y="3063240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33" name="TOC number 8 number"/>
          <p:cNvSpPr txBox="1"/>
          <p:nvPr/>
        </p:nvSpPr>
        <p:spPr>
          <a:xfrm>
            <a:off x="475488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8</a:t>
            </a:r>
            <a:endParaRPr lang="en-US" sz="1500" dirty="0"/>
          </a:p>
        </p:txBody>
      </p:sp>
      <p:sp>
        <p:nvSpPr>
          <p:cNvPr id="34" name="TOC item 8"/>
          <p:cNvSpPr txBox="1"/>
          <p:nvPr/>
        </p:nvSpPr>
        <p:spPr>
          <a:xfrm>
            <a:off x="5257800" y="2971800"/>
            <a:ext cx="315468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Methodology</a:t>
            </a:r>
            <a:endParaRPr lang="en-US" sz="1800" dirty="0"/>
          </a:p>
        </p:txBody>
      </p:sp>
      <p:sp>
        <p:nvSpPr>
          <p:cNvPr id="35" name="TOC card 9"/>
          <p:cNvSpPr/>
          <p:nvPr/>
        </p:nvSpPr>
        <p:spPr>
          <a:xfrm>
            <a:off x="4663440" y="3657600"/>
            <a:ext cx="384048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36" name="TOC number 9"/>
          <p:cNvSpPr/>
          <p:nvPr/>
        </p:nvSpPr>
        <p:spPr>
          <a:xfrm>
            <a:off x="4754880" y="3749040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37" name="TOC number 9 number"/>
          <p:cNvSpPr txBox="1"/>
          <p:nvPr/>
        </p:nvSpPr>
        <p:spPr>
          <a:xfrm>
            <a:off x="475488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9</a:t>
            </a:r>
            <a:endParaRPr lang="en-US" sz="1500" dirty="0"/>
          </a:p>
        </p:txBody>
      </p:sp>
      <p:sp>
        <p:nvSpPr>
          <p:cNvPr id="38" name="TOC item 9"/>
          <p:cNvSpPr txBox="1"/>
          <p:nvPr/>
        </p:nvSpPr>
        <p:spPr>
          <a:xfrm>
            <a:off x="5257800" y="3657600"/>
            <a:ext cx="315468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Implementation / Modules</a:t>
            </a:r>
            <a:endParaRPr lang="en-US" sz="1800" dirty="0"/>
          </a:p>
        </p:txBody>
      </p:sp>
      <p:sp>
        <p:nvSpPr>
          <p:cNvPr id="39" name="TOC card 10"/>
          <p:cNvSpPr/>
          <p:nvPr/>
        </p:nvSpPr>
        <p:spPr>
          <a:xfrm>
            <a:off x="4663440" y="4343400"/>
            <a:ext cx="384048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0" name="TOC number 10"/>
          <p:cNvSpPr/>
          <p:nvPr/>
        </p:nvSpPr>
        <p:spPr>
          <a:xfrm>
            <a:off x="4754880" y="4434840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41" name="TOC number 10 number"/>
          <p:cNvSpPr txBox="1"/>
          <p:nvPr/>
        </p:nvSpPr>
        <p:spPr>
          <a:xfrm>
            <a:off x="4754880" y="4434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10</a:t>
            </a:r>
            <a:endParaRPr lang="en-US" sz="1500" dirty="0"/>
          </a:p>
        </p:txBody>
      </p:sp>
      <p:sp>
        <p:nvSpPr>
          <p:cNvPr id="42" name="TOC item 10"/>
          <p:cNvSpPr txBox="1"/>
          <p:nvPr/>
        </p:nvSpPr>
        <p:spPr>
          <a:xfrm>
            <a:off x="5257800" y="4343400"/>
            <a:ext cx="315468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Results</a:t>
            </a:r>
            <a:endParaRPr lang="en-US" sz="1800" dirty="0"/>
          </a:p>
        </p:txBody>
      </p:sp>
      <p:sp>
        <p:nvSpPr>
          <p:cNvPr id="43" name="TOC card 11"/>
          <p:cNvSpPr/>
          <p:nvPr/>
        </p:nvSpPr>
        <p:spPr>
          <a:xfrm>
            <a:off x="4663440" y="5029200"/>
            <a:ext cx="384048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4" name="TOC number 11"/>
          <p:cNvSpPr/>
          <p:nvPr/>
        </p:nvSpPr>
        <p:spPr>
          <a:xfrm>
            <a:off x="4754880" y="5120640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45" name="TOC number 11 number"/>
          <p:cNvSpPr txBox="1"/>
          <p:nvPr/>
        </p:nvSpPr>
        <p:spPr>
          <a:xfrm>
            <a:off x="4754880" y="5120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11</a:t>
            </a:r>
            <a:endParaRPr lang="en-US" sz="1500" dirty="0"/>
          </a:p>
        </p:txBody>
      </p:sp>
      <p:sp>
        <p:nvSpPr>
          <p:cNvPr id="46" name="TOC item 11"/>
          <p:cNvSpPr txBox="1"/>
          <p:nvPr/>
        </p:nvSpPr>
        <p:spPr>
          <a:xfrm>
            <a:off x="5257800" y="5029200"/>
            <a:ext cx="315468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Conclusion</a:t>
            </a:r>
            <a:endParaRPr lang="en-US" sz="1800" dirty="0"/>
          </a:p>
        </p:txBody>
      </p:sp>
      <p:sp>
        <p:nvSpPr>
          <p:cNvPr id="47" name="TOC card 12"/>
          <p:cNvSpPr/>
          <p:nvPr/>
        </p:nvSpPr>
        <p:spPr>
          <a:xfrm>
            <a:off x="4663440" y="5715000"/>
            <a:ext cx="384048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8" name="TOC number 12"/>
          <p:cNvSpPr/>
          <p:nvPr/>
        </p:nvSpPr>
        <p:spPr>
          <a:xfrm>
            <a:off x="4754880" y="5806440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49" name="TOC number 12 number"/>
          <p:cNvSpPr txBox="1"/>
          <p:nvPr/>
        </p:nvSpPr>
        <p:spPr>
          <a:xfrm>
            <a:off x="4754880" y="5806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12</a:t>
            </a:r>
            <a:endParaRPr lang="en-US" sz="1500" dirty="0"/>
          </a:p>
        </p:txBody>
      </p:sp>
      <p:sp>
        <p:nvSpPr>
          <p:cNvPr id="50" name="TOC item 12"/>
          <p:cNvSpPr txBox="1"/>
          <p:nvPr/>
        </p:nvSpPr>
        <p:spPr>
          <a:xfrm>
            <a:off x="5257800" y="5715000"/>
            <a:ext cx="315468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References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922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365760" y="12801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Abstract</a:t>
            </a:r>
            <a:endParaRPr lang="en-US" sz="3000" dirty="0"/>
          </a:p>
        </p:txBody>
      </p:sp>
      <p:sp>
        <p:nvSpPr>
          <p:cNvPr id="3" name="Abstract bullets"/>
          <p:cNvSpPr txBox="1"/>
          <p:nvPr/>
        </p:nvSpPr>
        <p:spPr>
          <a:xfrm>
            <a:off x="457200" y="2194560"/>
            <a:ext cx="5074920" cy="4206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CloudPulse is a cloud cost monitoring and optimization platform for Azure (AWS optional). Every cost problem travels one loop: signal, context, finding, ownership, action, verification.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It connects through a read-only service principal (Reader and Cost Management Reader) and never creates, changes or deletes cloud resources.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Transparent rules and statistics (weekday-aware z-score, Holt smoothing, percentile verdicts) produce priced, de-duplicated findings scored P1 to P4 and assigned to the resource creator.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saving is counted only after 7 days of billed cost confirm the drop.</a:t>
            </a:r>
            <a:endParaRPr lang="en-US" sz="1400" dirty="0"/>
          </a:p>
        </p:txBody>
      </p:sp>
      <p:sp>
        <p:nvSpPr>
          <p:cNvPr id="4" name="Stat waste card"/>
          <p:cNvSpPr/>
          <p:nvPr/>
        </p:nvSpPr>
        <p:spPr>
          <a:xfrm>
            <a:off x="5760720" y="2240280"/>
            <a:ext cx="14630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" name="Stat waste value"/>
          <p:cNvSpPr txBox="1"/>
          <p:nvPr/>
        </p:nvSpPr>
        <p:spPr>
          <a:xfrm>
            <a:off x="5760720" y="2313432"/>
            <a:ext cx="1463040" cy="57835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$262.94</a:t>
            </a:r>
            <a:endParaRPr lang="en-US" sz="3000" dirty="0"/>
          </a:p>
        </p:txBody>
      </p:sp>
      <p:sp>
        <p:nvSpPr>
          <p:cNvPr id="6" name="Stat waste label"/>
          <p:cNvSpPr txBox="1"/>
          <p:nvPr/>
        </p:nvSpPr>
        <p:spPr>
          <a:xfrm>
            <a:off x="5852160" y="2850185"/>
            <a:ext cx="128016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open waste per month</a:t>
            </a:r>
            <a:endParaRPr lang="en-US" sz="1200" dirty="0"/>
          </a:p>
        </p:txBody>
      </p:sp>
      <p:sp>
        <p:nvSpPr>
          <p:cNvPr id="7" name="Stat savings card"/>
          <p:cNvSpPr/>
          <p:nvPr/>
        </p:nvSpPr>
        <p:spPr>
          <a:xfrm>
            <a:off x="7315200" y="2240280"/>
            <a:ext cx="14630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8" name="Stat savings value"/>
          <p:cNvSpPr txBox="1"/>
          <p:nvPr/>
        </p:nvSpPr>
        <p:spPr>
          <a:xfrm>
            <a:off x="7315200" y="2313432"/>
            <a:ext cx="1463040" cy="57835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$33.44</a:t>
            </a:r>
            <a:endParaRPr lang="en-US" sz="3000" dirty="0"/>
          </a:p>
        </p:txBody>
      </p:sp>
      <p:sp>
        <p:nvSpPr>
          <p:cNvPr id="9" name="Stat savings label"/>
          <p:cNvSpPr txBox="1"/>
          <p:nvPr/>
        </p:nvSpPr>
        <p:spPr>
          <a:xfrm>
            <a:off x="7406640" y="2850185"/>
            <a:ext cx="128016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verified savings per month</a:t>
            </a:r>
            <a:endParaRPr lang="en-US" sz="1200" dirty="0"/>
          </a:p>
        </p:txBody>
      </p:sp>
      <p:sp>
        <p:nvSpPr>
          <p:cNvPr id="10" name="Stat accuracy card"/>
          <p:cNvSpPr/>
          <p:nvPr/>
        </p:nvSpPr>
        <p:spPr>
          <a:xfrm>
            <a:off x="5760720" y="3429000"/>
            <a:ext cx="14630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1" name="Stat accuracy value"/>
          <p:cNvSpPr txBox="1"/>
          <p:nvPr/>
        </p:nvSpPr>
        <p:spPr>
          <a:xfrm>
            <a:off x="5760720" y="3502152"/>
            <a:ext cx="1463040" cy="57835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94%</a:t>
            </a:r>
            <a:endParaRPr lang="en-US" sz="3000" dirty="0"/>
          </a:p>
        </p:txBody>
      </p:sp>
      <p:sp>
        <p:nvSpPr>
          <p:cNvPr id="12" name="Stat accuracy label"/>
          <p:cNvSpPr txBox="1"/>
          <p:nvPr/>
        </p:nvSpPr>
        <p:spPr>
          <a:xfrm>
            <a:off x="5852160" y="4038905"/>
            <a:ext cx="128016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estimate accuracy</a:t>
            </a:r>
            <a:endParaRPr lang="en-US" sz="1200" dirty="0"/>
          </a:p>
        </p:txBody>
      </p:sp>
      <p:sp>
        <p:nvSpPr>
          <p:cNvPr id="13" name="Stat tests card"/>
          <p:cNvSpPr/>
          <p:nvPr/>
        </p:nvSpPr>
        <p:spPr>
          <a:xfrm>
            <a:off x="7315200" y="3429000"/>
            <a:ext cx="14630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4" name="Stat tests value"/>
          <p:cNvSpPr txBox="1"/>
          <p:nvPr/>
        </p:nvSpPr>
        <p:spPr>
          <a:xfrm>
            <a:off x="7315200" y="3502152"/>
            <a:ext cx="1463040" cy="57835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27</a:t>
            </a:r>
            <a:endParaRPr lang="en-US" sz="3000" dirty="0"/>
          </a:p>
        </p:txBody>
      </p:sp>
      <p:sp>
        <p:nvSpPr>
          <p:cNvPr id="15" name="Stat tests label"/>
          <p:cNvSpPr txBox="1"/>
          <p:nvPr/>
        </p:nvSpPr>
        <p:spPr>
          <a:xfrm>
            <a:off x="7406640" y="4038905"/>
            <a:ext cx="128016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automated tests passed</a:t>
            </a:r>
            <a:endParaRPr lang="en-US" sz="1200" dirty="0"/>
          </a:p>
        </p:txBody>
      </p:sp>
      <p:sp>
        <p:nvSpPr>
          <p:cNvPr id="16" name="Stack card"/>
          <p:cNvSpPr/>
          <p:nvPr/>
        </p:nvSpPr>
        <p:spPr>
          <a:xfrm>
            <a:off x="5760720" y="4617720"/>
            <a:ext cx="301752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7" name="Stack text"/>
          <p:cNvSpPr txBox="1"/>
          <p:nvPr/>
        </p:nvSpPr>
        <p:spPr>
          <a:xfrm>
            <a:off x="5852160" y="4663440"/>
            <a:ext cx="2834640" cy="1600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Built with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Python, FastAPI, SQLAlchemy and a framework-free JavaScript interface; secrets encrypted with Fernet.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922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365760" y="12801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Problem Statement</a:t>
            </a:r>
            <a:endParaRPr lang="en-US" sz="3000" dirty="0"/>
          </a:p>
        </p:txBody>
      </p:sp>
      <p:sp>
        <p:nvSpPr>
          <p:cNvPr id="3" name="Problem intro"/>
          <p:cNvSpPr txBox="1"/>
          <p:nvPr/>
        </p:nvSpPr>
        <p:spPr>
          <a:xfrm>
            <a:off x="457200" y="2148840"/>
            <a:ext cx="82296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Native cost consoles show how much was spent. They do not answer:</a:t>
            </a:r>
            <a:endParaRPr lang="en-US" sz="1600" dirty="0"/>
          </a:p>
        </p:txBody>
      </p:sp>
      <p:sp>
        <p:nvSpPr>
          <p:cNvPr id="4" name="Question card 1"/>
          <p:cNvSpPr/>
          <p:nvPr/>
        </p:nvSpPr>
        <p:spPr>
          <a:xfrm>
            <a:off x="457200" y="2606040"/>
            <a:ext cx="8229600" cy="676656"/>
          </a:xfrm>
          <a:prstGeom prst="roundRect">
            <a:avLst>
              <a:gd name="adj" fmla="val 1081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" name="Question icon 1 circle"/>
          <p:cNvSpPr/>
          <p:nvPr/>
        </p:nvSpPr>
        <p:spPr>
          <a:xfrm>
            <a:off x="566928" y="2697480"/>
            <a:ext cx="493776" cy="493776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pic>
        <p:nvPicPr>
          <p:cNvPr id="6" name="Question icon 1" descr="Question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2820924"/>
            <a:ext cx="246888" cy="246888"/>
          </a:xfrm>
          <a:prstGeom prst="rect">
            <a:avLst/>
          </a:prstGeom>
        </p:spPr>
      </p:pic>
      <p:sp>
        <p:nvSpPr>
          <p:cNvPr id="7" name="Question text 1"/>
          <p:cNvSpPr txBox="1"/>
          <p:nvPr/>
        </p:nvSpPr>
        <p:spPr>
          <a:xfrm>
            <a:off x="1234440" y="2606040"/>
            <a:ext cx="7315200" cy="6766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Which resources are wasted?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A list of expensive services does not say which individual resources are idle.</a:t>
            </a:r>
            <a:endParaRPr lang="en-US" sz="1400" dirty="0"/>
          </a:p>
        </p:txBody>
      </p:sp>
      <p:sp>
        <p:nvSpPr>
          <p:cNvPr id="8" name="Question card 2"/>
          <p:cNvSpPr/>
          <p:nvPr/>
        </p:nvSpPr>
        <p:spPr>
          <a:xfrm>
            <a:off x="457200" y="3374136"/>
            <a:ext cx="8229600" cy="676656"/>
          </a:xfrm>
          <a:prstGeom prst="roundRect">
            <a:avLst>
              <a:gd name="adj" fmla="val 1081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9" name="Question icon 2 circle"/>
          <p:cNvSpPr/>
          <p:nvPr/>
        </p:nvSpPr>
        <p:spPr>
          <a:xfrm>
            <a:off x="566928" y="3465576"/>
            <a:ext cx="493776" cy="493776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0" name="Question icon 2" descr="Question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" y="3589020"/>
            <a:ext cx="246888" cy="246888"/>
          </a:xfrm>
          <a:prstGeom prst="rect">
            <a:avLst/>
          </a:prstGeom>
        </p:spPr>
      </p:pic>
      <p:sp>
        <p:nvSpPr>
          <p:cNvPr id="11" name="Question text 2"/>
          <p:cNvSpPr txBox="1"/>
          <p:nvPr/>
        </p:nvSpPr>
        <p:spPr>
          <a:xfrm>
            <a:off x="1234440" y="3374136"/>
            <a:ext cx="7315200" cy="6766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Who created each resource?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Tags are often missing, so the person who can switch it off is unknown.</a:t>
            </a:r>
            <a:endParaRPr lang="en-US" sz="1400" dirty="0"/>
          </a:p>
        </p:txBody>
      </p:sp>
      <p:sp>
        <p:nvSpPr>
          <p:cNvPr id="12" name="Question card 3"/>
          <p:cNvSpPr/>
          <p:nvPr/>
        </p:nvSpPr>
        <p:spPr>
          <a:xfrm>
            <a:off x="457200" y="4142232"/>
            <a:ext cx="8229600" cy="676656"/>
          </a:xfrm>
          <a:prstGeom prst="roundRect">
            <a:avLst>
              <a:gd name="adj" fmla="val 1081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3" name="Question icon 3 circle"/>
          <p:cNvSpPr/>
          <p:nvPr/>
        </p:nvSpPr>
        <p:spPr>
          <a:xfrm>
            <a:off x="566928" y="4233672"/>
            <a:ext cx="493776" cy="493776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pic>
        <p:nvPicPr>
          <p:cNvPr id="14" name="Question icon 3" descr="Question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4357116"/>
            <a:ext cx="246888" cy="246888"/>
          </a:xfrm>
          <a:prstGeom prst="rect">
            <a:avLst/>
          </a:prstGeom>
        </p:spPr>
      </p:pic>
      <p:sp>
        <p:nvSpPr>
          <p:cNvPr id="15" name="Question text 3"/>
          <p:cNvSpPr txBox="1"/>
          <p:nvPr/>
        </p:nvSpPr>
        <p:spPr>
          <a:xfrm>
            <a:off x="1234440" y="4142232"/>
            <a:ext cx="7315200" cy="6766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What should be fixed first?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Without a single score, every item looks equally urgent.</a:t>
            </a:r>
            <a:endParaRPr lang="en-US" sz="1400" dirty="0"/>
          </a:p>
        </p:txBody>
      </p:sp>
      <p:sp>
        <p:nvSpPr>
          <p:cNvPr id="16" name="Question card 4"/>
          <p:cNvSpPr/>
          <p:nvPr/>
        </p:nvSpPr>
        <p:spPr>
          <a:xfrm>
            <a:off x="457200" y="4910328"/>
            <a:ext cx="8229600" cy="676656"/>
          </a:xfrm>
          <a:prstGeom prst="roundRect">
            <a:avLst>
              <a:gd name="adj" fmla="val 1081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7" name="Question icon 4 circle"/>
          <p:cNvSpPr/>
          <p:nvPr/>
        </p:nvSpPr>
        <p:spPr>
          <a:xfrm>
            <a:off x="566928" y="5001768"/>
            <a:ext cx="493776" cy="493776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8" name="Question icon 4" descr="Question icon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" y="5125212"/>
            <a:ext cx="246888" cy="246888"/>
          </a:xfrm>
          <a:prstGeom prst="rect">
            <a:avLst/>
          </a:prstGeom>
        </p:spPr>
      </p:pic>
      <p:sp>
        <p:nvSpPr>
          <p:cNvPr id="19" name="Question text 4"/>
          <p:cNvSpPr txBox="1"/>
          <p:nvPr/>
        </p:nvSpPr>
        <p:spPr>
          <a:xfrm>
            <a:off x="1234440" y="4910328"/>
            <a:ext cx="7315200" cy="6766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Was it really fixed?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A closed ticket is not evidence; only a lower bill proves a saving.</a:t>
            </a:r>
            <a:endParaRPr lang="en-US" sz="1400" dirty="0"/>
          </a:p>
        </p:txBody>
      </p:sp>
      <p:sp>
        <p:nvSpPr>
          <p:cNvPr id="20" name="Question card 5"/>
          <p:cNvSpPr/>
          <p:nvPr/>
        </p:nvSpPr>
        <p:spPr>
          <a:xfrm>
            <a:off x="457200" y="5678424"/>
            <a:ext cx="8229600" cy="676656"/>
          </a:xfrm>
          <a:prstGeom prst="roundRect">
            <a:avLst>
              <a:gd name="adj" fmla="val 1081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1" name="Question icon 5 circle"/>
          <p:cNvSpPr/>
          <p:nvPr/>
        </p:nvSpPr>
        <p:spPr>
          <a:xfrm>
            <a:off x="566928" y="5769864"/>
            <a:ext cx="493776" cy="493776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pic>
        <p:nvPicPr>
          <p:cNvPr id="22" name="Question icon 5" descr="Question icon 5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72" y="5893308"/>
            <a:ext cx="246888" cy="246888"/>
          </a:xfrm>
          <a:prstGeom prst="rect">
            <a:avLst/>
          </a:prstGeom>
        </p:spPr>
      </p:pic>
      <p:sp>
        <p:nvSpPr>
          <p:cNvPr id="23" name="Question text 5"/>
          <p:cNvSpPr txBox="1"/>
          <p:nvPr/>
        </p:nvSpPr>
        <p:spPr>
          <a:xfrm>
            <a:off x="1234440" y="5678424"/>
            <a:ext cx="7315200" cy="6766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Did the waste come back?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Resources recreated after clean-up silently erase the benefit.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922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365760" y="12801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Existing Systems vs CloudPulse</a:t>
            </a:r>
            <a:endParaRPr lang="en-US" sz="3000" dirty="0"/>
          </a:p>
        </p:txBody>
      </p:sp>
      <p:graphicFrame>
        <p:nvGraphicFramePr>
          <p:cNvPr id="6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82296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371600"/>
                <a:gridCol w="1554480"/>
                <a:gridCol w="128016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Capability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Native consoles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Commercial FinOps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Ad-hoc scripts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CloudPulse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Spend dashboards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Rarely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Yes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Idle / oversized detection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Partial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Partial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Yes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Creator from audit log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Manual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Varies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Automatic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Task workflow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Varies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Yes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Single priority score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Varies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Yes, explainable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Saving checked on next bill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Rarely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Yes, 7-day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Saving withdrawn if waste returns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Rarely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Yes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Read-only account access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n/a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Varies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Depends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Yes, by design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922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365760" y="12801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Objectives</a:t>
            </a:r>
            <a:endParaRPr lang="en-US" sz="3000" dirty="0"/>
          </a:p>
        </p:txBody>
      </p:sp>
      <p:sp>
        <p:nvSpPr>
          <p:cNvPr id="3" name="Aim card"/>
          <p:cNvSpPr/>
          <p:nvPr/>
        </p:nvSpPr>
        <p:spPr>
          <a:xfrm>
            <a:off x="457200" y="2148840"/>
            <a:ext cx="822960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Aim text"/>
          <p:cNvSpPr txBox="1"/>
          <p:nvPr/>
        </p:nvSpPr>
        <p:spPr>
          <a:xfrm>
            <a:off x="548640" y="2148840"/>
            <a:ext cx="804672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Aim: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build a transparent, read-only platform that detects wasted Azure spend, assigns each problem to its creator, tracks the fix, and counts a saving only after the bill proves it.</a:t>
            </a:r>
            <a:endParaRPr lang="en-US" sz="1400" dirty="0"/>
          </a:p>
        </p:txBody>
      </p:sp>
      <p:sp>
        <p:nvSpPr>
          <p:cNvPr id="5" name="Objective number 1"/>
          <p:cNvSpPr/>
          <p:nvPr/>
        </p:nvSpPr>
        <p:spPr>
          <a:xfrm>
            <a:off x="457200" y="3182112"/>
            <a:ext cx="365760" cy="36576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6" name="Objective number 1 number"/>
          <p:cNvSpPr txBox="1"/>
          <p:nvPr/>
        </p:nvSpPr>
        <p:spPr>
          <a:xfrm>
            <a:off x="457200" y="3182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Objective 1"/>
          <p:cNvSpPr txBox="1"/>
          <p:nvPr/>
        </p:nvSpPr>
        <p:spPr>
          <a:xfrm>
            <a:off x="914400" y="3108960"/>
            <a:ext cx="361188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Collect cost, inventory, usage and audit data with a least-privilege identity.</a:t>
            </a:r>
            <a:endParaRPr lang="en-US" sz="1400" dirty="0"/>
          </a:p>
        </p:txBody>
      </p:sp>
      <p:sp>
        <p:nvSpPr>
          <p:cNvPr id="8" name="Objective number 2"/>
          <p:cNvSpPr/>
          <p:nvPr/>
        </p:nvSpPr>
        <p:spPr>
          <a:xfrm>
            <a:off x="457200" y="3840480"/>
            <a:ext cx="365760" cy="36576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9" name="Objective number 2 number"/>
          <p:cNvSpPr txBox="1"/>
          <p:nvPr/>
        </p:nvSpPr>
        <p:spPr>
          <a:xfrm>
            <a:off x="457200" y="3840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Objective 2"/>
          <p:cNvSpPr txBox="1"/>
          <p:nvPr/>
        </p:nvSpPr>
        <p:spPr>
          <a:xfrm>
            <a:off x="914400" y="3767328"/>
            <a:ext cx="361188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Detect idle disks, unused IPs, orphaned snapshots and idle or oversized VMs.</a:t>
            </a:r>
            <a:endParaRPr lang="en-US" sz="1400" dirty="0"/>
          </a:p>
        </p:txBody>
      </p:sp>
      <p:sp>
        <p:nvSpPr>
          <p:cNvPr id="11" name="Objective number 3"/>
          <p:cNvSpPr/>
          <p:nvPr/>
        </p:nvSpPr>
        <p:spPr>
          <a:xfrm>
            <a:off x="457200" y="4498848"/>
            <a:ext cx="365760" cy="36576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12" name="Objective number 3 number"/>
          <p:cNvSpPr txBox="1"/>
          <p:nvPr/>
        </p:nvSpPr>
        <p:spPr>
          <a:xfrm>
            <a:off x="457200" y="4498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Objective 3"/>
          <p:cNvSpPr txBox="1"/>
          <p:nvPr/>
        </p:nvSpPr>
        <p:spPr>
          <a:xfrm>
            <a:off x="914400" y="4425696"/>
            <a:ext cx="361188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Flag abnormal daily spend with a weekday-aware robust z-score.</a:t>
            </a:r>
            <a:endParaRPr lang="en-US" sz="1400" dirty="0"/>
          </a:p>
        </p:txBody>
      </p:sp>
      <p:sp>
        <p:nvSpPr>
          <p:cNvPr id="14" name="Objective number 4"/>
          <p:cNvSpPr/>
          <p:nvPr/>
        </p:nvSpPr>
        <p:spPr>
          <a:xfrm>
            <a:off x="457200" y="5157216"/>
            <a:ext cx="365760" cy="36576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15" name="Objective number 4 number"/>
          <p:cNvSpPr txBox="1"/>
          <p:nvPr/>
        </p:nvSpPr>
        <p:spPr>
          <a:xfrm>
            <a:off x="457200" y="5157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Objective 4"/>
          <p:cNvSpPr txBox="1"/>
          <p:nvPr/>
        </p:nvSpPr>
        <p:spPr>
          <a:xfrm>
            <a:off x="914400" y="5084064"/>
            <a:ext cx="361188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Forecast month-end spend and predict the budget breach date.</a:t>
            </a:r>
            <a:endParaRPr lang="en-US" sz="1400" dirty="0"/>
          </a:p>
        </p:txBody>
      </p:sp>
      <p:sp>
        <p:nvSpPr>
          <p:cNvPr id="17" name="Objective number 5"/>
          <p:cNvSpPr/>
          <p:nvPr/>
        </p:nvSpPr>
        <p:spPr>
          <a:xfrm>
            <a:off x="457200" y="5815584"/>
            <a:ext cx="365760" cy="36576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18" name="Objective number 5 number"/>
          <p:cNvSpPr txBox="1"/>
          <p:nvPr/>
        </p:nvSpPr>
        <p:spPr>
          <a:xfrm>
            <a:off x="457200" y="58155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9" name="Objective 5"/>
          <p:cNvSpPr txBox="1"/>
          <p:nvPr/>
        </p:nvSpPr>
        <p:spPr>
          <a:xfrm>
            <a:off x="914400" y="5742432"/>
            <a:ext cx="361188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Attribute every resource to its creator from the Activity Log.</a:t>
            </a:r>
            <a:endParaRPr lang="en-US" sz="1400" dirty="0"/>
          </a:p>
        </p:txBody>
      </p:sp>
      <p:sp>
        <p:nvSpPr>
          <p:cNvPr id="20" name="Objective number 6"/>
          <p:cNvSpPr/>
          <p:nvPr/>
        </p:nvSpPr>
        <p:spPr>
          <a:xfrm>
            <a:off x="4663440" y="3182112"/>
            <a:ext cx="365760" cy="36576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21" name="Objective number 6 number"/>
          <p:cNvSpPr txBox="1"/>
          <p:nvPr/>
        </p:nvSpPr>
        <p:spPr>
          <a:xfrm>
            <a:off x="4663440" y="3182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22" name="Objective 6"/>
          <p:cNvSpPr txBox="1"/>
          <p:nvPr/>
        </p:nvSpPr>
        <p:spPr>
          <a:xfrm>
            <a:off x="5120640" y="3108960"/>
            <a:ext cx="361188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Rank findings with one explainable P1 to P4 priority score.</a:t>
            </a:r>
            <a:endParaRPr lang="en-US" sz="1400" dirty="0"/>
          </a:p>
        </p:txBody>
      </p:sp>
      <p:sp>
        <p:nvSpPr>
          <p:cNvPr id="23" name="Objective number 7"/>
          <p:cNvSpPr/>
          <p:nvPr/>
        </p:nvSpPr>
        <p:spPr>
          <a:xfrm>
            <a:off x="4663440" y="3840480"/>
            <a:ext cx="365760" cy="36576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24" name="Objective number 7 number"/>
          <p:cNvSpPr txBox="1"/>
          <p:nvPr/>
        </p:nvSpPr>
        <p:spPr>
          <a:xfrm>
            <a:off x="4663440" y="3840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7</a:t>
            </a:r>
            <a:endParaRPr lang="en-US" sz="1400" dirty="0"/>
          </a:p>
        </p:txBody>
      </p:sp>
      <p:sp>
        <p:nvSpPr>
          <p:cNvPr id="25" name="Objective 7"/>
          <p:cNvSpPr txBox="1"/>
          <p:nvPr/>
        </p:nvSpPr>
        <p:spPr>
          <a:xfrm>
            <a:off x="5120640" y="3767328"/>
            <a:ext cx="361188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Run a role-based finding lifecycle with comments and audit trail.</a:t>
            </a:r>
            <a:endParaRPr lang="en-US" sz="1400" dirty="0"/>
          </a:p>
        </p:txBody>
      </p:sp>
      <p:sp>
        <p:nvSpPr>
          <p:cNvPr id="26" name="Objective number 8"/>
          <p:cNvSpPr/>
          <p:nvPr/>
        </p:nvSpPr>
        <p:spPr>
          <a:xfrm>
            <a:off x="4663440" y="4498848"/>
            <a:ext cx="365760" cy="36576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27" name="Objective number 8 number"/>
          <p:cNvSpPr txBox="1"/>
          <p:nvPr/>
        </p:nvSpPr>
        <p:spPr>
          <a:xfrm>
            <a:off x="4663440" y="4498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8</a:t>
            </a:r>
            <a:endParaRPr lang="en-US" sz="1400" dirty="0"/>
          </a:p>
        </p:txBody>
      </p:sp>
      <p:sp>
        <p:nvSpPr>
          <p:cNvPr id="28" name="Objective 8"/>
          <p:cNvSpPr txBox="1"/>
          <p:nvPr/>
        </p:nvSpPr>
        <p:spPr>
          <a:xfrm>
            <a:off x="5120640" y="4425696"/>
            <a:ext cx="361188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Verify each saving on the bill; withdraw it if the waste returns.</a:t>
            </a:r>
            <a:endParaRPr lang="en-US" sz="1400" dirty="0"/>
          </a:p>
        </p:txBody>
      </p:sp>
      <p:sp>
        <p:nvSpPr>
          <p:cNvPr id="29" name="Objective number 9"/>
          <p:cNvSpPr/>
          <p:nvPr/>
        </p:nvSpPr>
        <p:spPr>
          <a:xfrm>
            <a:off x="4663440" y="5157216"/>
            <a:ext cx="365760" cy="36576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30" name="Objective number 9 number"/>
          <p:cNvSpPr txBox="1"/>
          <p:nvPr/>
        </p:nvSpPr>
        <p:spPr>
          <a:xfrm>
            <a:off x="4663440" y="5157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9</a:t>
            </a:r>
            <a:endParaRPr lang="en-US" sz="1400" dirty="0"/>
          </a:p>
        </p:txBody>
      </p:sp>
      <p:sp>
        <p:nvSpPr>
          <p:cNvPr id="31" name="Objective 9"/>
          <p:cNvSpPr txBox="1"/>
          <p:nvPr/>
        </p:nvSpPr>
        <p:spPr>
          <a:xfrm>
            <a:off x="5120640" y="5084064"/>
            <a:ext cx="361188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Protect credentials and passwords with modern cryptography.</a:t>
            </a:r>
            <a:endParaRPr lang="en-US" sz="1400" dirty="0"/>
          </a:p>
        </p:txBody>
      </p:sp>
      <p:sp>
        <p:nvSpPr>
          <p:cNvPr id="32" name="Objective number 10"/>
          <p:cNvSpPr/>
          <p:nvPr/>
        </p:nvSpPr>
        <p:spPr>
          <a:xfrm>
            <a:off x="4663440" y="5815584"/>
            <a:ext cx="365760" cy="36576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33" name="Objective number 10 number"/>
          <p:cNvSpPr txBox="1"/>
          <p:nvPr/>
        </p:nvSpPr>
        <p:spPr>
          <a:xfrm>
            <a:off x="4663440" y="58155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10</a:t>
            </a:r>
            <a:endParaRPr lang="en-US" sz="1400" dirty="0"/>
          </a:p>
        </p:txBody>
      </p:sp>
      <p:sp>
        <p:nvSpPr>
          <p:cNvPr id="34" name="Objective 10"/>
          <p:cNvSpPr txBox="1"/>
          <p:nvPr/>
        </p:nvSpPr>
        <p:spPr>
          <a:xfrm>
            <a:off x="5120640" y="5742432"/>
            <a:ext cx="361188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Provide a reproducible Azure test environment and automated tests.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922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365760" y="12801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Task and Outcomes</a:t>
            </a:r>
            <a:endParaRPr lang="en-US" sz="3000" dirty="0"/>
          </a:p>
        </p:txBody>
      </p:sp>
      <p:sp>
        <p:nvSpPr>
          <p:cNvPr id="3" name="Tasks card"/>
          <p:cNvSpPr/>
          <p:nvPr/>
        </p:nvSpPr>
        <p:spPr>
          <a:xfrm>
            <a:off x="457200" y="2194560"/>
            <a:ext cx="4023360" cy="4206240"/>
          </a:xfrm>
          <a:prstGeom prst="roundRect">
            <a:avLst>
              <a:gd name="adj" fmla="val 1818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Outcomes card"/>
          <p:cNvSpPr/>
          <p:nvPr/>
        </p:nvSpPr>
        <p:spPr>
          <a:xfrm>
            <a:off x="4663440" y="2194560"/>
            <a:ext cx="4023360" cy="4206240"/>
          </a:xfrm>
          <a:prstGeom prst="roundRect">
            <a:avLst>
              <a:gd name="adj" fmla="val 1818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" name="Tasks heading"/>
          <p:cNvSpPr txBox="1"/>
          <p:nvPr/>
        </p:nvSpPr>
        <p:spPr>
          <a:xfrm>
            <a:off x="594360" y="2240280"/>
            <a:ext cx="374904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Tasks</a:t>
            </a:r>
            <a:endParaRPr lang="en-US" sz="2000" dirty="0"/>
          </a:p>
        </p:txBody>
      </p:sp>
      <p:sp>
        <p:nvSpPr>
          <p:cNvPr id="6" name="Tasks list"/>
          <p:cNvSpPr txBox="1"/>
          <p:nvPr/>
        </p:nvSpPr>
        <p:spPr>
          <a:xfrm>
            <a:off x="594360" y="2697480"/>
            <a:ext cx="3749040" cy="3657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Analyse the gaps in native cost consoles.</a:t>
            </a:r>
            <a:endParaRPr lang="en-US" sz="16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Build a read-only Azure collector (custom REST client).</a:t>
            </a:r>
            <a:endParaRPr lang="en-US" sz="16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Implement detection, anomaly, forecast and priority algorithms.</a:t>
            </a:r>
            <a:endParaRPr lang="en-US" sz="16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Build the findings engine, lifecycle and API.</a:t>
            </a:r>
            <a:endParaRPr lang="en-US" sz="16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Develop the web interface with SVG charts.</a:t>
            </a:r>
            <a:endParaRPr lang="en-US" sz="16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Create an Azure test workload and run 27 tests.</a:t>
            </a:r>
            <a:endParaRPr lang="en-US" sz="1600" dirty="0"/>
          </a:p>
        </p:txBody>
      </p:sp>
      <p:sp>
        <p:nvSpPr>
          <p:cNvPr id="7" name="Outcomes heading"/>
          <p:cNvSpPr txBox="1"/>
          <p:nvPr/>
        </p:nvSpPr>
        <p:spPr>
          <a:xfrm>
            <a:off x="4800600" y="2240280"/>
            <a:ext cx="374904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Expected Outcomes</a:t>
            </a:r>
            <a:endParaRPr lang="en-US" sz="2000" dirty="0"/>
          </a:p>
        </p:txBody>
      </p:sp>
      <p:sp>
        <p:nvSpPr>
          <p:cNvPr id="8" name="Outcomes list"/>
          <p:cNvSpPr txBox="1"/>
          <p:nvPr/>
        </p:nvSpPr>
        <p:spPr>
          <a:xfrm>
            <a:off x="4800600" y="2697480"/>
            <a:ext cx="3749040" cy="3657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All 27 automated tests pass.</a:t>
            </a:r>
            <a:endParaRPr lang="en-US" sz="16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Consistent figures on every page: spend, waste, savings, budget.</a:t>
            </a:r>
            <a:endParaRPr lang="en-US" sz="16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Planted waste appears as findings with the creator identified, without tags.</a:t>
            </a:r>
            <a:endParaRPr lang="en-US" sz="16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fix is verified only after billed data confirms a drop.</a:t>
            </a:r>
            <a:endParaRPr lang="en-US" sz="16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Safe to connect: read-only access, encrypted secrets.</a:t>
            </a:r>
            <a:endParaRPr lang="en-US" sz="16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Runs on a laptop, Docker, Render or Azure App Service.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922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365760" y="12801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Plan of the Project</a:t>
            </a:r>
            <a:endParaRPr lang="en-US" sz="3000" dirty="0"/>
          </a:p>
        </p:txBody>
      </p:sp>
      <p:sp>
        <p:nvSpPr>
          <p:cNvPr id="3" name="Phase card 1"/>
          <p:cNvSpPr/>
          <p:nvPr/>
        </p:nvSpPr>
        <p:spPr>
          <a:xfrm>
            <a:off x="457200" y="2240280"/>
            <a:ext cx="265176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Phase number 1"/>
          <p:cNvSpPr/>
          <p:nvPr/>
        </p:nvSpPr>
        <p:spPr>
          <a:xfrm>
            <a:off x="594360" y="2377440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5" name="Phase number 1 number"/>
          <p:cNvSpPr txBox="1"/>
          <p:nvPr/>
        </p:nvSpPr>
        <p:spPr>
          <a:xfrm>
            <a:off x="59436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Phase label 1"/>
          <p:cNvSpPr txBox="1"/>
          <p:nvPr/>
        </p:nvSpPr>
        <p:spPr>
          <a:xfrm>
            <a:off x="1143000" y="2377440"/>
            <a:ext cx="18288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Phase 1</a:t>
            </a:r>
            <a:endParaRPr lang="en-US" sz="1400" dirty="0"/>
          </a:p>
        </p:txBody>
      </p:sp>
      <p:sp>
        <p:nvSpPr>
          <p:cNvPr id="7" name="Phase title 1"/>
          <p:cNvSpPr txBox="1"/>
          <p:nvPr/>
        </p:nvSpPr>
        <p:spPr>
          <a:xfrm>
            <a:off x="594360" y="2926080"/>
            <a:ext cx="237744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Algorithms</a:t>
            </a:r>
            <a:endParaRPr lang="en-US" sz="1700" dirty="0"/>
          </a:p>
        </p:txBody>
      </p:sp>
      <p:sp>
        <p:nvSpPr>
          <p:cNvPr id="8" name="Phase text 1"/>
          <p:cNvSpPr txBox="1"/>
          <p:nvPr/>
        </p:nvSpPr>
        <p:spPr>
          <a:xfrm>
            <a:off x="594360" y="3337560"/>
            <a:ext cx="237744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Pure Python functions with hand-calculated unit tests</a:t>
            </a:r>
            <a:endParaRPr lang="en-US" sz="1400" dirty="0"/>
          </a:p>
        </p:txBody>
      </p:sp>
      <p:sp>
        <p:nvSpPr>
          <p:cNvPr id="9" name="Phase card 2"/>
          <p:cNvSpPr/>
          <p:nvPr/>
        </p:nvSpPr>
        <p:spPr>
          <a:xfrm>
            <a:off x="3246120" y="2240280"/>
            <a:ext cx="265176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0" name="Phase number 2"/>
          <p:cNvSpPr/>
          <p:nvPr/>
        </p:nvSpPr>
        <p:spPr>
          <a:xfrm>
            <a:off x="3383280" y="2377440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1" name="Phase number 2 number"/>
          <p:cNvSpPr txBox="1"/>
          <p:nvPr/>
        </p:nvSpPr>
        <p:spPr>
          <a:xfrm>
            <a:off x="338328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Phase label 2"/>
          <p:cNvSpPr txBox="1"/>
          <p:nvPr/>
        </p:nvSpPr>
        <p:spPr>
          <a:xfrm>
            <a:off x="3931920" y="2377440"/>
            <a:ext cx="18288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Phase 2</a:t>
            </a:r>
            <a:endParaRPr lang="en-US" sz="1400" dirty="0"/>
          </a:p>
        </p:txBody>
      </p:sp>
      <p:sp>
        <p:nvSpPr>
          <p:cNvPr id="13" name="Phase title 2"/>
          <p:cNvSpPr txBox="1"/>
          <p:nvPr/>
        </p:nvSpPr>
        <p:spPr>
          <a:xfrm>
            <a:off x="3383280" y="2926080"/>
            <a:ext cx="237744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Azure Collector</a:t>
            </a:r>
            <a:endParaRPr lang="en-US" sz="1700" dirty="0"/>
          </a:p>
        </p:txBody>
      </p:sp>
      <p:sp>
        <p:nvSpPr>
          <p:cNvPr id="14" name="Phase text 2"/>
          <p:cNvSpPr txBox="1"/>
          <p:nvPr/>
        </p:nvSpPr>
        <p:spPr>
          <a:xfrm>
            <a:off x="3383280" y="3337560"/>
            <a:ext cx="237744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Custom REST client, tested against a fake cloud</a:t>
            </a:r>
            <a:endParaRPr lang="en-US" sz="1400" dirty="0"/>
          </a:p>
        </p:txBody>
      </p:sp>
      <p:sp>
        <p:nvSpPr>
          <p:cNvPr id="15" name="Phase card 3"/>
          <p:cNvSpPr/>
          <p:nvPr/>
        </p:nvSpPr>
        <p:spPr>
          <a:xfrm>
            <a:off x="6035040" y="2240280"/>
            <a:ext cx="265176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6" name="Phase number 3"/>
          <p:cNvSpPr/>
          <p:nvPr/>
        </p:nvSpPr>
        <p:spPr>
          <a:xfrm>
            <a:off x="6172200" y="2377440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7" name="Phase number 3 number"/>
          <p:cNvSpPr txBox="1"/>
          <p:nvPr/>
        </p:nvSpPr>
        <p:spPr>
          <a:xfrm>
            <a:off x="617220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Phase label 3"/>
          <p:cNvSpPr txBox="1"/>
          <p:nvPr/>
        </p:nvSpPr>
        <p:spPr>
          <a:xfrm>
            <a:off x="6720840" y="2377440"/>
            <a:ext cx="18288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Phase 3</a:t>
            </a:r>
            <a:endParaRPr lang="en-US" sz="1400" dirty="0"/>
          </a:p>
        </p:txBody>
      </p:sp>
      <p:sp>
        <p:nvSpPr>
          <p:cNvPr id="19" name="Phase title 3"/>
          <p:cNvSpPr txBox="1"/>
          <p:nvPr/>
        </p:nvSpPr>
        <p:spPr>
          <a:xfrm>
            <a:off x="6172200" y="2926080"/>
            <a:ext cx="237744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Findings Engine and API</a:t>
            </a:r>
            <a:endParaRPr lang="en-US" sz="1700" dirty="0"/>
          </a:p>
        </p:txBody>
      </p:sp>
      <p:sp>
        <p:nvSpPr>
          <p:cNvPr id="20" name="Phase text 3"/>
          <p:cNvSpPr txBox="1"/>
          <p:nvPr/>
        </p:nvSpPr>
        <p:spPr>
          <a:xfrm>
            <a:off x="6172200" y="3337560"/>
            <a:ext cx="237744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De-duplication, lifecycle, roles, verification</a:t>
            </a:r>
            <a:endParaRPr lang="en-US" sz="1400" dirty="0"/>
          </a:p>
        </p:txBody>
      </p:sp>
      <p:sp>
        <p:nvSpPr>
          <p:cNvPr id="21" name="Phase card 4"/>
          <p:cNvSpPr/>
          <p:nvPr/>
        </p:nvSpPr>
        <p:spPr>
          <a:xfrm>
            <a:off x="457200" y="4343400"/>
            <a:ext cx="265176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2" name="Phase number 4"/>
          <p:cNvSpPr/>
          <p:nvPr/>
        </p:nvSpPr>
        <p:spPr>
          <a:xfrm>
            <a:off x="594360" y="4480560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3" name="Phase number 4 number"/>
          <p:cNvSpPr txBox="1"/>
          <p:nvPr/>
        </p:nvSpPr>
        <p:spPr>
          <a:xfrm>
            <a:off x="594360" y="4480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4" name="Phase label 4"/>
          <p:cNvSpPr txBox="1"/>
          <p:nvPr/>
        </p:nvSpPr>
        <p:spPr>
          <a:xfrm>
            <a:off x="1143000" y="4480560"/>
            <a:ext cx="18288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Phase 4</a:t>
            </a:r>
            <a:endParaRPr lang="en-US" sz="1400" dirty="0"/>
          </a:p>
        </p:txBody>
      </p:sp>
      <p:sp>
        <p:nvSpPr>
          <p:cNvPr id="25" name="Phase title 4"/>
          <p:cNvSpPr txBox="1"/>
          <p:nvPr/>
        </p:nvSpPr>
        <p:spPr>
          <a:xfrm>
            <a:off x="594360" y="5029200"/>
            <a:ext cx="237744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User Interface</a:t>
            </a:r>
            <a:endParaRPr lang="en-US" sz="1700" dirty="0"/>
          </a:p>
        </p:txBody>
      </p:sp>
      <p:sp>
        <p:nvSpPr>
          <p:cNvPr id="26" name="Phase text 4"/>
          <p:cNvSpPr txBox="1"/>
          <p:nvPr/>
        </p:nvSpPr>
        <p:spPr>
          <a:xfrm>
            <a:off x="594360" y="5440680"/>
            <a:ext cx="237744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Framework-free JavaScript single-page app</a:t>
            </a:r>
            <a:endParaRPr lang="en-US" sz="1400" dirty="0"/>
          </a:p>
        </p:txBody>
      </p:sp>
      <p:sp>
        <p:nvSpPr>
          <p:cNvPr id="27" name="Phase card 5"/>
          <p:cNvSpPr/>
          <p:nvPr/>
        </p:nvSpPr>
        <p:spPr>
          <a:xfrm>
            <a:off x="3246120" y="4343400"/>
            <a:ext cx="265176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8" name="Phase number 5"/>
          <p:cNvSpPr/>
          <p:nvPr/>
        </p:nvSpPr>
        <p:spPr>
          <a:xfrm>
            <a:off x="3383280" y="4480560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9" name="Phase number 5 number"/>
          <p:cNvSpPr txBox="1"/>
          <p:nvPr/>
        </p:nvSpPr>
        <p:spPr>
          <a:xfrm>
            <a:off x="3383280" y="4480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30" name="Phase label 5"/>
          <p:cNvSpPr txBox="1"/>
          <p:nvPr/>
        </p:nvSpPr>
        <p:spPr>
          <a:xfrm>
            <a:off x="3931920" y="4480560"/>
            <a:ext cx="18288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Phase 5</a:t>
            </a:r>
            <a:endParaRPr lang="en-US" sz="1400" dirty="0"/>
          </a:p>
        </p:txBody>
      </p:sp>
      <p:sp>
        <p:nvSpPr>
          <p:cNvPr id="31" name="Phase title 5"/>
          <p:cNvSpPr txBox="1"/>
          <p:nvPr/>
        </p:nvSpPr>
        <p:spPr>
          <a:xfrm>
            <a:off x="3383280" y="5029200"/>
            <a:ext cx="237744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Azure Test Environment</a:t>
            </a:r>
            <a:endParaRPr lang="en-US" sz="1700" dirty="0"/>
          </a:p>
        </p:txBody>
      </p:sp>
      <p:sp>
        <p:nvSpPr>
          <p:cNvPr id="32" name="Phase text 5"/>
          <p:cNvSpPr txBox="1"/>
          <p:nvPr/>
        </p:nvSpPr>
        <p:spPr>
          <a:xfrm>
            <a:off x="3383280" y="5440680"/>
            <a:ext cx="237744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Scripts that plant real waste in a subscription</a:t>
            </a:r>
            <a:endParaRPr lang="en-US" sz="1400" dirty="0"/>
          </a:p>
        </p:txBody>
      </p:sp>
      <p:sp>
        <p:nvSpPr>
          <p:cNvPr id="33" name="Phase card 6"/>
          <p:cNvSpPr/>
          <p:nvPr/>
        </p:nvSpPr>
        <p:spPr>
          <a:xfrm>
            <a:off x="6035040" y="4343400"/>
            <a:ext cx="265176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34" name="Phase number 6"/>
          <p:cNvSpPr/>
          <p:nvPr/>
        </p:nvSpPr>
        <p:spPr>
          <a:xfrm>
            <a:off x="6172200" y="4480560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35" name="Phase number 6 number"/>
          <p:cNvSpPr txBox="1"/>
          <p:nvPr/>
        </p:nvSpPr>
        <p:spPr>
          <a:xfrm>
            <a:off x="6172200" y="4480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6</a:t>
            </a:r>
            <a:endParaRPr lang="en-US" sz="1800" dirty="0"/>
          </a:p>
        </p:txBody>
      </p:sp>
      <p:sp>
        <p:nvSpPr>
          <p:cNvPr id="36" name="Phase label 6"/>
          <p:cNvSpPr txBox="1"/>
          <p:nvPr/>
        </p:nvSpPr>
        <p:spPr>
          <a:xfrm>
            <a:off x="6720840" y="4480560"/>
            <a:ext cx="18288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Phase 6</a:t>
            </a:r>
            <a:endParaRPr lang="en-US" sz="1400" dirty="0"/>
          </a:p>
        </p:txBody>
      </p:sp>
      <p:sp>
        <p:nvSpPr>
          <p:cNvPr id="37" name="Phase title 6"/>
          <p:cNvSpPr txBox="1"/>
          <p:nvPr/>
        </p:nvSpPr>
        <p:spPr>
          <a:xfrm>
            <a:off x="6172200" y="5029200"/>
            <a:ext cx="237744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Validation</a:t>
            </a:r>
            <a:endParaRPr lang="en-US" sz="1700" dirty="0"/>
          </a:p>
        </p:txBody>
      </p:sp>
      <p:sp>
        <p:nvSpPr>
          <p:cNvPr id="38" name="Phase text 6"/>
          <p:cNvSpPr txBox="1"/>
          <p:nvPr/>
        </p:nvSpPr>
        <p:spPr>
          <a:xfrm>
            <a:off x="6172200" y="5440680"/>
            <a:ext cx="237744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27 tests, headless-browser review, live checks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922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365760" y="12801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Tools and Technologies Used</a:t>
            </a:r>
            <a:endParaRPr lang="en-US" sz="3000" dirty="0"/>
          </a:p>
        </p:txBody>
      </p:sp>
      <p:graphicFrame>
        <p:nvGraphicFramePr>
          <p:cNvPr id="10" name="Technology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82296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937760"/>
              </a:tblGrid>
              <a:tr h="4160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Technology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Purpose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Python 3.12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Back end, statistics and cryptography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FastAPI, Pydantic, Uvicorn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Async JSON API with validated requests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SQLAlchemy 2.0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ORM: SQLite in development, PostgreSQL in production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APScheduler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Background sync of every workspace (6 h default)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Azure ARM REST + azure-identity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Custom ~135-line client; OAuth 2.0 tokens only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Fernet (cryptography), scrypt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Encrypt cloud secrets; hash passwords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HTML, CSS, JavaScript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Framework-free SPA; charts drawn as SVG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Docker, Render, Azure App Service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Packaging and hosting targets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pytest, GitHub Actions, Playwright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27 tests, CI on every push, headless-browser checks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922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365760" y="12801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System Architecture</a:t>
            </a:r>
            <a:endParaRPr lang="en-US" sz="3000" dirty="0"/>
          </a:p>
        </p:txBody>
      </p:sp>
      <p:sp>
        <p:nvSpPr>
          <p:cNvPr id="3" name="Tier card 1"/>
          <p:cNvSpPr/>
          <p:nvPr/>
        </p:nvSpPr>
        <p:spPr>
          <a:xfrm>
            <a:off x="457200" y="2194560"/>
            <a:ext cx="2651760" cy="306324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Tier icon 1 circle"/>
          <p:cNvSpPr/>
          <p:nvPr/>
        </p:nvSpPr>
        <p:spPr>
          <a:xfrm>
            <a:off x="594360" y="2304288"/>
            <a:ext cx="502920" cy="50292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pic>
        <p:nvPicPr>
          <p:cNvPr id="5" name="Tier icon 1" descr="Tier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90" y="2430018"/>
            <a:ext cx="251460" cy="251460"/>
          </a:xfrm>
          <a:prstGeom prst="rect">
            <a:avLst/>
          </a:prstGeom>
        </p:spPr>
      </p:pic>
      <p:sp>
        <p:nvSpPr>
          <p:cNvPr id="6" name="Tier title 1"/>
          <p:cNvSpPr txBox="1"/>
          <p:nvPr/>
        </p:nvSpPr>
        <p:spPr>
          <a:xfrm>
            <a:off x="1188720" y="2304288"/>
            <a:ext cx="18288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Client Tier</a:t>
            </a:r>
            <a:endParaRPr lang="en-US" sz="1800" dirty="0"/>
          </a:p>
        </p:txBody>
      </p:sp>
      <p:sp>
        <p:nvSpPr>
          <p:cNvPr id="7" name="Tier list 1"/>
          <p:cNvSpPr txBox="1"/>
          <p:nvPr/>
        </p:nvSpPr>
        <p:spPr>
          <a:xfrm>
            <a:off x="566928" y="2926080"/>
            <a:ext cx="2450592" cy="2286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Single-page app, no build step</a:t>
            </a:r>
            <a:endParaRPr lang="en-US" sz="15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10 pages: Overview, Cost explorer, Anomalies, Budgets, Findings and more</a:t>
            </a:r>
            <a:endParaRPr lang="en-US" sz="15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Roles: admin, owner, viewer, demo visitor</a:t>
            </a:r>
            <a:endParaRPr lang="en-US" sz="1500" dirty="0"/>
          </a:p>
        </p:txBody>
      </p:sp>
      <p:sp>
        <p:nvSpPr>
          <p:cNvPr id="8" name="Tier card 2"/>
          <p:cNvSpPr/>
          <p:nvPr/>
        </p:nvSpPr>
        <p:spPr>
          <a:xfrm>
            <a:off x="3246120" y="2194560"/>
            <a:ext cx="2651760" cy="306324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9" name="Tier icon 2 circle"/>
          <p:cNvSpPr/>
          <p:nvPr/>
        </p:nvSpPr>
        <p:spPr>
          <a:xfrm>
            <a:off x="3383280" y="2304288"/>
            <a:ext cx="502920" cy="50292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0" name="Tier icon 2" descr="Tier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9010" y="2430018"/>
            <a:ext cx="251460" cy="251460"/>
          </a:xfrm>
          <a:prstGeom prst="rect">
            <a:avLst/>
          </a:prstGeom>
        </p:spPr>
      </p:pic>
      <p:sp>
        <p:nvSpPr>
          <p:cNvPr id="11" name="Tier title 2"/>
          <p:cNvSpPr txBox="1"/>
          <p:nvPr/>
        </p:nvSpPr>
        <p:spPr>
          <a:xfrm>
            <a:off x="3977640" y="2304288"/>
            <a:ext cx="18288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Server Tier</a:t>
            </a:r>
            <a:endParaRPr lang="en-US" sz="1800" dirty="0"/>
          </a:p>
        </p:txBody>
      </p:sp>
      <p:sp>
        <p:nvSpPr>
          <p:cNvPr id="12" name="Tier list 2"/>
          <p:cNvSpPr txBox="1"/>
          <p:nvPr/>
        </p:nvSpPr>
        <p:spPr>
          <a:xfrm>
            <a:off x="3355848" y="2926080"/>
            <a:ext cx="2450592" cy="2286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FastAPI routers: auth, admin, API</a:t>
            </a:r>
            <a:endParaRPr lang="en-US" sz="15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Collector, detectors, findings engine, owner resolver</a:t>
            </a:r>
            <a:endParaRPr lang="en-US" sz="15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APScheduler sync, sessions, CSRF, rate limit</a:t>
            </a:r>
            <a:endParaRPr lang="en-US" sz="1500" dirty="0"/>
          </a:p>
        </p:txBody>
      </p:sp>
      <p:sp>
        <p:nvSpPr>
          <p:cNvPr id="13" name="Tier card 3"/>
          <p:cNvSpPr/>
          <p:nvPr/>
        </p:nvSpPr>
        <p:spPr>
          <a:xfrm>
            <a:off x="6035040" y="2194560"/>
            <a:ext cx="2651760" cy="306324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4" name="Tier icon 3 circle"/>
          <p:cNvSpPr/>
          <p:nvPr/>
        </p:nvSpPr>
        <p:spPr>
          <a:xfrm>
            <a:off x="6172200" y="2304288"/>
            <a:ext cx="502920" cy="50292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pic>
        <p:nvPicPr>
          <p:cNvPr id="15" name="Tier icon 3" descr="Tier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7930" y="2430018"/>
            <a:ext cx="251460" cy="251460"/>
          </a:xfrm>
          <a:prstGeom prst="rect">
            <a:avLst/>
          </a:prstGeom>
        </p:spPr>
      </p:pic>
      <p:sp>
        <p:nvSpPr>
          <p:cNvPr id="16" name="Tier title 3"/>
          <p:cNvSpPr txBox="1"/>
          <p:nvPr/>
        </p:nvSpPr>
        <p:spPr>
          <a:xfrm>
            <a:off x="6766560" y="2304288"/>
            <a:ext cx="18288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Data Tier</a:t>
            </a:r>
            <a:endParaRPr lang="en-US" sz="1800" dirty="0"/>
          </a:p>
        </p:txBody>
      </p:sp>
      <p:sp>
        <p:nvSpPr>
          <p:cNvPr id="17" name="Tier list 3"/>
          <p:cNvSpPr txBox="1"/>
          <p:nvPr/>
        </p:nvSpPr>
        <p:spPr>
          <a:xfrm>
            <a:off x="6144768" y="2926080"/>
            <a:ext cx="2450592" cy="2286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SQLAlchemy ORM</a:t>
            </a:r>
            <a:endParaRPr lang="en-US" sz="15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SQLite by default, PostgreSQL ready</a:t>
            </a:r>
            <a:endParaRPr lang="en-US" sz="15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Findings, costs, owners, audit log; Fernet-encrypted credentials</a:t>
            </a:r>
            <a:endParaRPr lang="en-US" sz="1500" dirty="0"/>
          </a:p>
        </p:txBody>
      </p:sp>
      <p:sp>
        <p:nvSpPr>
          <p:cNvPr id="18" name="Azure strip"/>
          <p:cNvSpPr/>
          <p:nvPr/>
        </p:nvSpPr>
        <p:spPr>
          <a:xfrm>
            <a:off x="457200" y="5440680"/>
            <a:ext cx="8229600" cy="960120"/>
          </a:xfrm>
          <a:prstGeom prst="roundRect">
            <a:avLst>
              <a:gd name="adj" fmla="val 7619"/>
            </a:avLst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19" name="Azure icon circle"/>
          <p:cNvSpPr/>
          <p:nvPr/>
        </p:nvSpPr>
        <p:spPr>
          <a:xfrm>
            <a:off x="594360" y="5669280"/>
            <a:ext cx="502920" cy="50292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20" name="Azure icon" descr="Azure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90" y="5795010"/>
            <a:ext cx="251460" cy="251460"/>
          </a:xfrm>
          <a:prstGeom prst="rect">
            <a:avLst/>
          </a:prstGeom>
        </p:spPr>
      </p:pic>
      <p:sp>
        <p:nvSpPr>
          <p:cNvPr id="21" name="Azure strip text"/>
          <p:cNvSpPr txBox="1"/>
          <p:nvPr/>
        </p:nvSpPr>
        <p:spPr>
          <a:xfrm>
            <a:off x="1234440" y="5440680"/>
            <a:ext cx="731520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Microsoft Azure (external, read-only)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Entra ID, Cost Management, Resource Graph, Monitor, Activity Log, Advisor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922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365760" y="12801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System Architecture Diagram</a:t>
            </a:r>
            <a:endParaRPr lang="en-US" sz="3000" dirty="0"/>
          </a:p>
        </p:txBody>
      </p:sp>
      <p:pic>
        <p:nvPicPr>
          <p:cNvPr id="3" name="CloudPulse system architecture diagram with the Azure credential and data flows" descr="CloudPulse system architecture diagram with the Azure credential and data flow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148840"/>
            <a:ext cx="7040880" cy="441655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922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365760" y="12801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Azure Credential Architecture</a:t>
            </a:r>
            <a:endParaRPr lang="en-US" sz="3000" dirty="0"/>
          </a:p>
        </p:txBody>
      </p:sp>
      <p:pic>
        <p:nvPicPr>
          <p:cNvPr id="3" name="Azure credential creation, token acquisition and read-only request sequence" descr="Azure credential creation, token acquisition and read-only request sequen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148840"/>
            <a:ext cx="3474720" cy="4389120"/>
          </a:xfrm>
          <a:prstGeom prst="rect">
            <a:avLst/>
          </a:prstGeom>
        </p:spPr>
      </p:pic>
      <p:sp>
        <p:nvSpPr>
          <p:cNvPr id="4" name="Credential card 1"/>
          <p:cNvSpPr/>
          <p:nvPr/>
        </p:nvSpPr>
        <p:spPr>
          <a:xfrm>
            <a:off x="4160520" y="2194560"/>
            <a:ext cx="4526280" cy="969264"/>
          </a:xfrm>
          <a:prstGeom prst="roundRect">
            <a:avLst>
              <a:gd name="adj" fmla="val 754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" name="Credential icon 1 circle"/>
          <p:cNvSpPr/>
          <p:nvPr/>
        </p:nvSpPr>
        <p:spPr>
          <a:xfrm>
            <a:off x="4251960" y="2432304"/>
            <a:ext cx="493776" cy="493776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pic>
        <p:nvPicPr>
          <p:cNvPr id="6" name="Credential icon 1" descr="Credential icon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5404" y="2555748"/>
            <a:ext cx="246888" cy="246888"/>
          </a:xfrm>
          <a:prstGeom prst="rect">
            <a:avLst/>
          </a:prstGeom>
        </p:spPr>
      </p:pic>
      <p:sp>
        <p:nvSpPr>
          <p:cNvPr id="7" name="Credential text 1"/>
          <p:cNvSpPr txBox="1"/>
          <p:nvPr/>
        </p:nvSpPr>
        <p:spPr>
          <a:xfrm>
            <a:off x="4846320" y="2194560"/>
            <a:ext cx="3794760" cy="9692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Least privilege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Reader and Cost Management Reader roles on one subscription; nothing can be changed.</a:t>
            </a:r>
            <a:endParaRPr lang="en-US" sz="1400" dirty="0"/>
          </a:p>
        </p:txBody>
      </p:sp>
      <p:sp>
        <p:nvSpPr>
          <p:cNvPr id="8" name="Credential card 2"/>
          <p:cNvSpPr/>
          <p:nvPr/>
        </p:nvSpPr>
        <p:spPr>
          <a:xfrm>
            <a:off x="4160520" y="3273552"/>
            <a:ext cx="4526280" cy="969264"/>
          </a:xfrm>
          <a:prstGeom prst="roundRect">
            <a:avLst>
              <a:gd name="adj" fmla="val 754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9" name="Credential icon 2 circle"/>
          <p:cNvSpPr/>
          <p:nvPr/>
        </p:nvSpPr>
        <p:spPr>
          <a:xfrm>
            <a:off x="4251960" y="3511296"/>
            <a:ext cx="493776" cy="493776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0" name="Credential icon 2" descr="Credential icon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5404" y="3634740"/>
            <a:ext cx="246888" cy="246888"/>
          </a:xfrm>
          <a:prstGeom prst="rect">
            <a:avLst/>
          </a:prstGeom>
        </p:spPr>
      </p:pic>
      <p:sp>
        <p:nvSpPr>
          <p:cNvPr id="11" name="Credential text 2"/>
          <p:cNvSpPr txBox="1"/>
          <p:nvPr/>
        </p:nvSpPr>
        <p:spPr>
          <a:xfrm>
            <a:off x="4846320" y="3273552"/>
            <a:ext cx="3794760" cy="9692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Short-lived tokens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OAuth 2.0 client-credentials grant returns a JWT valid for about one hour.</a:t>
            </a:r>
            <a:endParaRPr lang="en-US" sz="1400" dirty="0"/>
          </a:p>
        </p:txBody>
      </p:sp>
      <p:sp>
        <p:nvSpPr>
          <p:cNvPr id="12" name="Credential card 3"/>
          <p:cNvSpPr/>
          <p:nvPr/>
        </p:nvSpPr>
        <p:spPr>
          <a:xfrm>
            <a:off x="4160520" y="4352544"/>
            <a:ext cx="4526280" cy="969264"/>
          </a:xfrm>
          <a:prstGeom prst="roundRect">
            <a:avLst>
              <a:gd name="adj" fmla="val 754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3" name="Credential icon 3 circle"/>
          <p:cNvSpPr/>
          <p:nvPr/>
        </p:nvSpPr>
        <p:spPr>
          <a:xfrm>
            <a:off x="4251960" y="4590288"/>
            <a:ext cx="493776" cy="493776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pic>
        <p:nvPicPr>
          <p:cNvPr id="14" name="Credential icon 3" descr="Credential icon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5404" y="4713732"/>
            <a:ext cx="246888" cy="246888"/>
          </a:xfrm>
          <a:prstGeom prst="rect">
            <a:avLst/>
          </a:prstGeom>
        </p:spPr>
      </p:pic>
      <p:sp>
        <p:nvSpPr>
          <p:cNvPr id="15" name="Credential text 3"/>
          <p:cNvSpPr txBox="1"/>
          <p:nvPr/>
        </p:nvSpPr>
        <p:spPr>
          <a:xfrm>
            <a:off x="4846320" y="4352544"/>
            <a:ext cx="3794760" cy="9692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Encrypted at rest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Client secret stored as a Fernet token; the API never returns it.</a:t>
            </a:r>
            <a:endParaRPr lang="en-US" sz="1400" dirty="0"/>
          </a:p>
        </p:txBody>
      </p:sp>
      <p:sp>
        <p:nvSpPr>
          <p:cNvPr id="16" name="Credential card 4"/>
          <p:cNvSpPr/>
          <p:nvPr/>
        </p:nvSpPr>
        <p:spPr>
          <a:xfrm>
            <a:off x="4160520" y="5431536"/>
            <a:ext cx="4526280" cy="969264"/>
          </a:xfrm>
          <a:prstGeom prst="roundRect">
            <a:avLst>
              <a:gd name="adj" fmla="val 754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7" name="Credential icon 4 circle"/>
          <p:cNvSpPr/>
          <p:nvPr/>
        </p:nvSpPr>
        <p:spPr>
          <a:xfrm>
            <a:off x="4251960" y="5669280"/>
            <a:ext cx="493776" cy="493776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8" name="Credential icon 4" descr="Credential icon 4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5404" y="5792724"/>
            <a:ext cx="246888" cy="246888"/>
          </a:xfrm>
          <a:prstGeom prst="rect">
            <a:avLst/>
          </a:prstGeom>
        </p:spPr>
      </p:pic>
      <p:sp>
        <p:nvSpPr>
          <p:cNvPr id="19" name="Credential text 4"/>
          <p:cNvSpPr txBox="1"/>
          <p:nvPr/>
        </p:nvSpPr>
        <p:spPr>
          <a:xfrm>
            <a:off x="4846320" y="5431536"/>
            <a:ext cx="3794760" cy="9692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Three sign-in modes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Service principal, Azure CLI, or App Service managed identity with no stored secret.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922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365760" y="12801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Methodology: Cost-to-Action Loop</a:t>
            </a:r>
            <a:endParaRPr lang="en-US" sz="3000" dirty="0"/>
          </a:p>
        </p:txBody>
      </p:sp>
      <p:sp>
        <p:nvSpPr>
          <p:cNvPr id="3" name="Loop stage 1"/>
          <p:cNvSpPr/>
          <p:nvPr/>
        </p:nvSpPr>
        <p:spPr>
          <a:xfrm>
            <a:off x="457200" y="2194560"/>
            <a:ext cx="2011680" cy="621792"/>
          </a:xfrm>
          <a:prstGeom prst="roundRect">
            <a:avLst>
              <a:gd name="adj" fmla="val 11765"/>
            </a:avLst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4" name="Loop stage label 1"/>
          <p:cNvSpPr txBox="1"/>
          <p:nvPr/>
        </p:nvSpPr>
        <p:spPr>
          <a:xfrm>
            <a:off x="457200" y="2194560"/>
            <a:ext cx="201168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1. Signal</a:t>
            </a:r>
            <a:endParaRPr lang="en-US" sz="1700" dirty="0"/>
          </a:p>
        </p:txBody>
      </p:sp>
      <p:sp>
        <p:nvSpPr>
          <p:cNvPr id="5" name="Loop detail card 1"/>
          <p:cNvSpPr/>
          <p:nvPr/>
        </p:nvSpPr>
        <p:spPr>
          <a:xfrm>
            <a:off x="2606040" y="2194560"/>
            <a:ext cx="608076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6" name="Loop detail 1"/>
          <p:cNvSpPr txBox="1"/>
          <p:nvPr/>
        </p:nvSpPr>
        <p:spPr>
          <a:xfrm>
            <a:off x="2697480" y="2194560"/>
            <a:ext cx="589788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Read the bill, inventory, VM metrics, Advisor and Activity Log on every sync.</a:t>
            </a:r>
            <a:endParaRPr lang="en-US" sz="1400" dirty="0"/>
          </a:p>
        </p:txBody>
      </p:sp>
      <p:sp>
        <p:nvSpPr>
          <p:cNvPr id="7" name="Loop stage 2"/>
          <p:cNvSpPr/>
          <p:nvPr/>
        </p:nvSpPr>
        <p:spPr>
          <a:xfrm>
            <a:off x="457200" y="2907792"/>
            <a:ext cx="2011680" cy="621792"/>
          </a:xfrm>
          <a:prstGeom prst="roundRect">
            <a:avLst>
              <a:gd name="adj" fmla="val 11765"/>
            </a:avLst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8" name="Loop stage label 2"/>
          <p:cNvSpPr txBox="1"/>
          <p:nvPr/>
        </p:nvSpPr>
        <p:spPr>
          <a:xfrm>
            <a:off x="457200" y="2907792"/>
            <a:ext cx="201168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2. Context</a:t>
            </a:r>
            <a:endParaRPr lang="en-US" sz="1700" dirty="0"/>
          </a:p>
        </p:txBody>
      </p:sp>
      <p:sp>
        <p:nvSpPr>
          <p:cNvPr id="9" name="Loop detail card 2"/>
          <p:cNvSpPr/>
          <p:nvPr/>
        </p:nvSpPr>
        <p:spPr>
          <a:xfrm>
            <a:off x="2606040" y="2907792"/>
            <a:ext cx="608076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0" name="Loop detail 2"/>
          <p:cNvSpPr txBox="1"/>
          <p:nvPr/>
        </p:nvSpPr>
        <p:spPr>
          <a:xfrm>
            <a:off x="2697480" y="2907792"/>
            <a:ext cx="589788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Price each signal per month: actual billed cost, else list price.</a:t>
            </a:r>
            <a:endParaRPr lang="en-US" sz="1400" dirty="0"/>
          </a:p>
        </p:txBody>
      </p:sp>
      <p:sp>
        <p:nvSpPr>
          <p:cNvPr id="11" name="Loop stage 3"/>
          <p:cNvSpPr/>
          <p:nvPr/>
        </p:nvSpPr>
        <p:spPr>
          <a:xfrm>
            <a:off x="457200" y="3621024"/>
            <a:ext cx="2011680" cy="621792"/>
          </a:xfrm>
          <a:prstGeom prst="roundRect">
            <a:avLst>
              <a:gd name="adj" fmla="val 11765"/>
            </a:avLst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12" name="Loop stage label 3"/>
          <p:cNvSpPr txBox="1"/>
          <p:nvPr/>
        </p:nvSpPr>
        <p:spPr>
          <a:xfrm>
            <a:off x="457200" y="3621024"/>
            <a:ext cx="201168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3. Finding</a:t>
            </a:r>
            <a:endParaRPr lang="en-US" sz="1700" dirty="0"/>
          </a:p>
        </p:txBody>
      </p:sp>
      <p:sp>
        <p:nvSpPr>
          <p:cNvPr id="13" name="Loop detail card 3"/>
          <p:cNvSpPr/>
          <p:nvPr/>
        </p:nvSpPr>
        <p:spPr>
          <a:xfrm>
            <a:off x="2606040" y="3621024"/>
            <a:ext cx="608076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4" name="Loop detail 3"/>
          <p:cNvSpPr txBox="1"/>
          <p:nvPr/>
        </p:nvSpPr>
        <p:spPr>
          <a:xfrm>
            <a:off x="2697480" y="3621024"/>
            <a:ext cx="589788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 de-duplicated, scored task with its evidence attached.</a:t>
            </a:r>
            <a:endParaRPr lang="en-US" sz="1400" dirty="0"/>
          </a:p>
        </p:txBody>
      </p:sp>
      <p:sp>
        <p:nvSpPr>
          <p:cNvPr id="15" name="Loop stage 4"/>
          <p:cNvSpPr/>
          <p:nvPr/>
        </p:nvSpPr>
        <p:spPr>
          <a:xfrm>
            <a:off x="457200" y="4334256"/>
            <a:ext cx="2011680" cy="621792"/>
          </a:xfrm>
          <a:prstGeom prst="roundRect">
            <a:avLst>
              <a:gd name="adj" fmla="val 11765"/>
            </a:avLst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16" name="Loop stage label 4"/>
          <p:cNvSpPr txBox="1"/>
          <p:nvPr/>
        </p:nvSpPr>
        <p:spPr>
          <a:xfrm>
            <a:off x="457200" y="4334256"/>
            <a:ext cx="201168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4. Ownership</a:t>
            </a:r>
            <a:endParaRPr lang="en-US" sz="1700" dirty="0"/>
          </a:p>
        </p:txBody>
      </p:sp>
      <p:sp>
        <p:nvSpPr>
          <p:cNvPr id="17" name="Loop detail card 4"/>
          <p:cNvSpPr/>
          <p:nvPr/>
        </p:nvSpPr>
        <p:spPr>
          <a:xfrm>
            <a:off x="2606040" y="4334256"/>
            <a:ext cx="608076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8" name="Loop detail 4"/>
          <p:cNvSpPr txBox="1"/>
          <p:nvPr/>
        </p:nvSpPr>
        <p:spPr>
          <a:xfrm>
            <a:off x="2697480" y="4334256"/>
            <a:ext cx="589788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Creator from the Activity Log (tags second) is matched to a user.</a:t>
            </a:r>
            <a:endParaRPr lang="en-US" sz="1400" dirty="0"/>
          </a:p>
        </p:txBody>
      </p:sp>
      <p:sp>
        <p:nvSpPr>
          <p:cNvPr id="19" name="Loop stage 5"/>
          <p:cNvSpPr/>
          <p:nvPr/>
        </p:nvSpPr>
        <p:spPr>
          <a:xfrm>
            <a:off x="457200" y="5047488"/>
            <a:ext cx="2011680" cy="621792"/>
          </a:xfrm>
          <a:prstGeom prst="roundRect">
            <a:avLst>
              <a:gd name="adj" fmla="val 11765"/>
            </a:avLst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20" name="Loop stage label 5"/>
          <p:cNvSpPr txBox="1"/>
          <p:nvPr/>
        </p:nvSpPr>
        <p:spPr>
          <a:xfrm>
            <a:off x="457200" y="5047488"/>
            <a:ext cx="201168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5. Action</a:t>
            </a:r>
            <a:endParaRPr lang="en-US" sz="1700" dirty="0"/>
          </a:p>
        </p:txBody>
      </p:sp>
      <p:sp>
        <p:nvSpPr>
          <p:cNvPr id="21" name="Loop detail card 5"/>
          <p:cNvSpPr/>
          <p:nvPr/>
        </p:nvSpPr>
        <p:spPr>
          <a:xfrm>
            <a:off x="2606040" y="5047488"/>
            <a:ext cx="608076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2" name="Loop detail 5"/>
          <p:cNvSpPr txBox="1"/>
          <p:nvPr/>
        </p:nvSpPr>
        <p:spPr>
          <a:xfrm>
            <a:off x="2697480" y="5047488"/>
            <a:ext cx="589788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Owner starts, fixes, dismisses with a reason or snoozes.</a:t>
            </a:r>
            <a:endParaRPr lang="en-US" sz="1400" dirty="0"/>
          </a:p>
        </p:txBody>
      </p:sp>
      <p:sp>
        <p:nvSpPr>
          <p:cNvPr id="23" name="Loop stage 6"/>
          <p:cNvSpPr/>
          <p:nvPr/>
        </p:nvSpPr>
        <p:spPr>
          <a:xfrm>
            <a:off x="457200" y="5760720"/>
            <a:ext cx="2011680" cy="621792"/>
          </a:xfrm>
          <a:prstGeom prst="roundRect">
            <a:avLst>
              <a:gd name="adj" fmla="val 11765"/>
            </a:avLst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24" name="Loop stage label 6"/>
          <p:cNvSpPr txBox="1"/>
          <p:nvPr/>
        </p:nvSpPr>
        <p:spPr>
          <a:xfrm>
            <a:off x="457200" y="5760720"/>
            <a:ext cx="201168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6. Verification</a:t>
            </a:r>
            <a:endParaRPr lang="en-US" sz="1700" dirty="0"/>
          </a:p>
        </p:txBody>
      </p:sp>
      <p:sp>
        <p:nvSpPr>
          <p:cNvPr id="25" name="Loop detail card 6"/>
          <p:cNvSpPr/>
          <p:nvPr/>
        </p:nvSpPr>
        <p:spPr>
          <a:xfrm>
            <a:off x="2606040" y="5760720"/>
            <a:ext cx="608076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6" name="Loop detail 6"/>
          <p:cNvSpPr txBox="1"/>
          <p:nvPr/>
        </p:nvSpPr>
        <p:spPr>
          <a:xfrm>
            <a:off x="2697480" y="5760720"/>
            <a:ext cx="589788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7 days of billed cost before and after; only then is the saving recorded.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922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365760" y="12801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Methodology: Data Collection</a:t>
            </a:r>
            <a:endParaRPr lang="en-US" sz="3000" dirty="0"/>
          </a:p>
        </p:txBody>
      </p:sp>
      <p:pic>
        <p:nvPicPr>
          <p:cNvPr id="3" name="Synchronisation pipeline executed on every sync" descr="Synchronisation pipeline executed on every syn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148840"/>
            <a:ext cx="3657600" cy="4270248"/>
          </a:xfrm>
          <a:prstGeom prst="rect">
            <a:avLst/>
          </a:prstGeom>
        </p:spPr>
      </p:pic>
      <p:sp>
        <p:nvSpPr>
          <p:cNvPr id="4" name="Collection notes"/>
          <p:cNvSpPr txBox="1"/>
          <p:nvPr/>
        </p:nvSpPr>
        <p:spPr>
          <a:xfrm>
            <a:off x="4343400" y="2194560"/>
            <a:ext cx="4343400" cy="4206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One fault-tolerant call: sync_workspace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Cost: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daily ActualCost by service and resource; 90-day back-fill, then the last 10 days.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Inventory: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Resource Graph lists disks, IPs, snapshots and VMs, paged with $skipToken.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Usage: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14 days of hourly CPU and network from Azure Monitor.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Advice: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Azure Advisor cost items merged in as evidence.</a:t>
            </a:r>
            <a:endParaRPr lang="en-US" sz="15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Resilience: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each step records its own error, so one failure never stops the sync.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922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365760" y="12801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Methodology: Detection Rules</a:t>
            </a:r>
            <a:endParaRPr lang="en-US" sz="3000" dirty="0"/>
          </a:p>
        </p:txBody>
      </p:sp>
      <p:graphicFrame>
        <p:nvGraphicFramePr>
          <p:cNvPr id="16" name="Detection rule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754880"/>
                <a:gridCol w="1188720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Finding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Rule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Confidence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Unattached disk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diskState = Unattached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0.95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Idle public IP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Static, no IP configuration or NAT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0.95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Orphaned snapshot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Source disk deleted, or older than 30 days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0.90 / 0.60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VM stopped but billed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Stopped, not deallocated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0.90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Deallocated VM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Power off, but disks still billed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0.60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Idle VM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p95 CPU &lt; 5 % and p95 network &lt; 5 MB/h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0.85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Oversized VM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p95 CPU &lt; 20 %, peak &lt; 80 %, smaller size exists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0.70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Rules note card"/>
          <p:cNvSpPr/>
          <p:nvPr/>
        </p:nvSpPr>
        <p:spPr>
          <a:xfrm>
            <a:off x="457200" y="5715000"/>
            <a:ext cx="822960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" name="Rules note"/>
          <p:cNvSpPr txBox="1"/>
          <p:nvPr/>
        </p:nvSpPr>
        <p:spPr>
          <a:xfrm>
            <a:off x="548640" y="5715000"/>
            <a:ext cx="804672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Where Cost Management reports the billed cost of a resource, that actual cost replaces the list-price estimate. Memory is not measured, so oversized verdicts are 0.15 less confident.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922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365760" y="12801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Methodology: Anomaly and Forecast</a:t>
            </a:r>
            <a:endParaRPr lang="en-US" sz="3000" dirty="0"/>
          </a:p>
        </p:txBody>
      </p:sp>
      <p:sp>
        <p:nvSpPr>
          <p:cNvPr id="3" name="Anomaly card"/>
          <p:cNvSpPr/>
          <p:nvPr/>
        </p:nvSpPr>
        <p:spPr>
          <a:xfrm>
            <a:off x="457200" y="2194560"/>
            <a:ext cx="4023360" cy="4206240"/>
          </a:xfrm>
          <a:prstGeom prst="roundRect">
            <a:avLst>
              <a:gd name="adj" fmla="val 1818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Forecast card"/>
          <p:cNvSpPr/>
          <p:nvPr/>
        </p:nvSpPr>
        <p:spPr>
          <a:xfrm>
            <a:off x="4663440" y="2194560"/>
            <a:ext cx="4023360" cy="4206240"/>
          </a:xfrm>
          <a:prstGeom prst="roundRect">
            <a:avLst>
              <a:gd name="adj" fmla="val 1818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" name="Anomaly heading"/>
          <p:cNvSpPr txBox="1"/>
          <p:nvPr/>
        </p:nvSpPr>
        <p:spPr>
          <a:xfrm>
            <a:off x="594360" y="2240280"/>
            <a:ext cx="374904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Anomaly: weekday-aware z-score</a:t>
            </a:r>
            <a:endParaRPr lang="en-US" sz="1700" dirty="0"/>
          </a:p>
        </p:txBody>
      </p:sp>
      <p:sp>
        <p:nvSpPr>
          <p:cNvPr id="6" name="Anomaly formula box"/>
          <p:cNvSpPr/>
          <p:nvPr/>
        </p:nvSpPr>
        <p:spPr>
          <a:xfrm>
            <a:off x="594360" y="2697480"/>
            <a:ext cx="3749040" cy="16002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7" name="Anomaly formula"/>
          <p:cNvSpPr txBox="1"/>
          <p:nvPr/>
        </p:nvSpPr>
        <p:spPr>
          <a:xfrm>
            <a:off x="685800" y="2770632"/>
            <a:ext cx="3566160" cy="1453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= median(same weekday,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previous 4 weeks)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max(1.4826*MAD, 5% of m)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= (x - m) / 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flag when z &gt; 3.5</a:t>
            </a:r>
            <a:endParaRPr lang="en-US" sz="1200" dirty="0"/>
          </a:p>
        </p:txBody>
      </p:sp>
      <p:sp>
        <p:nvSpPr>
          <p:cNvPr id="8" name="Anomaly example"/>
          <p:cNvSpPr txBox="1"/>
          <p:nvPr/>
        </p:nvSpPr>
        <p:spPr>
          <a:xfrm>
            <a:off x="594360" y="4389120"/>
            <a:ext cx="3749040" cy="1920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Example, 24 Sep 2024: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day cost $169.26 against a usual $73.55 gives z = 7.9. EC2 explains 99.1 % of the rise; the spike is ongoing, projected at $2,909.55 a month.</a:t>
            </a:r>
            <a:endParaRPr lang="en-US" sz="1600" dirty="0"/>
          </a:p>
        </p:txBody>
      </p:sp>
      <p:sp>
        <p:nvSpPr>
          <p:cNvPr id="9" name="Forecast heading"/>
          <p:cNvSpPr txBox="1"/>
          <p:nvPr/>
        </p:nvSpPr>
        <p:spPr>
          <a:xfrm>
            <a:off x="4800600" y="2240280"/>
            <a:ext cx="374904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Forecast: Holt smoothing</a:t>
            </a:r>
            <a:endParaRPr lang="en-US" sz="1700" dirty="0"/>
          </a:p>
        </p:txBody>
      </p:sp>
      <p:sp>
        <p:nvSpPr>
          <p:cNvPr id="10" name="Forecast formula box"/>
          <p:cNvSpPr/>
          <p:nvPr/>
        </p:nvSpPr>
        <p:spPr>
          <a:xfrm>
            <a:off x="4800600" y="2697480"/>
            <a:ext cx="3749040" cy="16002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1" name="Forecast formula"/>
          <p:cNvSpPr txBox="1"/>
          <p:nvPr/>
        </p:nvSpPr>
        <p:spPr>
          <a:xfrm>
            <a:off x="4892040" y="2770632"/>
            <a:ext cx="3566160" cy="1453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forecast(h) = (level + h*trend)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* weekday_factor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month_end = to_date + sum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80% range = +/-1.2816*RMSE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*sqrt(days_left)</a:t>
            </a:r>
            <a:endParaRPr lang="en-US" sz="1200" dirty="0"/>
          </a:p>
        </p:txBody>
      </p:sp>
      <p:sp>
        <p:nvSpPr>
          <p:cNvPr id="12" name="Forecast example"/>
          <p:cNvSpPr txBox="1"/>
          <p:nvPr/>
        </p:nvSpPr>
        <p:spPr>
          <a:xfrm>
            <a:off x="4800600" y="4389120"/>
            <a:ext cx="3749040" cy="1920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Example, September 2024: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$2,600 budget was passed on 28 Sep and the month ended at $2,829.99, 9 % over. This raises a P1 budget-risk finding.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922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365760" y="12801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Methodology: Priority Score</a:t>
            </a:r>
            <a:endParaRPr lang="en-US" sz="3000" dirty="0"/>
          </a:p>
        </p:txBody>
      </p:sp>
      <p:sp>
        <p:nvSpPr>
          <p:cNvPr id="3" name="Priority formula box"/>
          <p:cNvSpPr/>
          <p:nvPr/>
        </p:nvSpPr>
        <p:spPr>
          <a:xfrm>
            <a:off x="457200" y="2194560"/>
            <a:ext cx="4206240" cy="16002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Priority formula"/>
          <p:cNvSpPr txBox="1"/>
          <p:nvPr/>
        </p:nvSpPr>
        <p:spPr>
          <a:xfrm>
            <a:off x="548640" y="2267712"/>
            <a:ext cx="4023360" cy="1453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= 100*(0.6*impact + 0.4*severity)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* confidence * age_factor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impact = min(1, log10(1+$)/log10(1001))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age_factor = 1 + min(0.3, days_open/100)</a:t>
            </a:r>
            <a:endParaRPr lang="en-US" sz="1200" dirty="0"/>
          </a:p>
        </p:txBody>
      </p:sp>
      <p:pic>
        <p:nvPicPr>
          <p:cNvPr id="5" name="Priority score against monthly impact for four severities" descr="Priority score against monthly impact for four severiti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2194560"/>
            <a:ext cx="3840480" cy="2048256"/>
          </a:xfrm>
          <a:prstGeom prst="rect">
            <a:avLst/>
          </a:prstGeom>
        </p:spPr>
      </p:pic>
      <p:sp>
        <p:nvSpPr>
          <p:cNvPr id="6" name="Band P1"/>
          <p:cNvSpPr/>
          <p:nvPr/>
        </p:nvSpPr>
        <p:spPr>
          <a:xfrm>
            <a:off x="457200" y="4023360"/>
            <a:ext cx="96012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7" name="Band label P1"/>
          <p:cNvSpPr txBox="1"/>
          <p:nvPr/>
        </p:nvSpPr>
        <p:spPr>
          <a:xfrm>
            <a:off x="457200" y="402336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P1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70 +</a:t>
            </a:r>
            <a:endParaRPr lang="en-US" sz="1400" dirty="0"/>
          </a:p>
        </p:txBody>
      </p:sp>
      <p:sp>
        <p:nvSpPr>
          <p:cNvPr id="8" name="Band P2"/>
          <p:cNvSpPr/>
          <p:nvPr/>
        </p:nvSpPr>
        <p:spPr>
          <a:xfrm>
            <a:off x="1508760" y="4023360"/>
            <a:ext cx="960120" cy="548640"/>
          </a:xfrm>
          <a:prstGeom prst="roundRect">
            <a:avLst>
              <a:gd name="adj" fmla="val 13333"/>
            </a:avLst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9" name="Band label P2"/>
          <p:cNvSpPr txBox="1"/>
          <p:nvPr/>
        </p:nvSpPr>
        <p:spPr>
          <a:xfrm>
            <a:off x="1508760" y="402336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P2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45 +</a:t>
            </a:r>
            <a:endParaRPr lang="en-US" sz="1400" dirty="0"/>
          </a:p>
        </p:txBody>
      </p:sp>
      <p:sp>
        <p:nvSpPr>
          <p:cNvPr id="10" name="Band P3"/>
          <p:cNvSpPr/>
          <p:nvPr/>
        </p:nvSpPr>
        <p:spPr>
          <a:xfrm>
            <a:off x="2560320" y="4023360"/>
            <a:ext cx="960120" cy="54864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11" name="Band label P3"/>
          <p:cNvSpPr txBox="1"/>
          <p:nvPr/>
        </p:nvSpPr>
        <p:spPr>
          <a:xfrm>
            <a:off x="2560320" y="402336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P3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25 +</a:t>
            </a:r>
            <a:endParaRPr lang="en-US" sz="1400" dirty="0"/>
          </a:p>
        </p:txBody>
      </p:sp>
      <p:sp>
        <p:nvSpPr>
          <p:cNvPr id="12" name="Band P4"/>
          <p:cNvSpPr/>
          <p:nvPr/>
        </p:nvSpPr>
        <p:spPr>
          <a:xfrm>
            <a:off x="3611880" y="4023360"/>
            <a:ext cx="960120" cy="54864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13" name="Band label P4"/>
          <p:cNvSpPr txBox="1"/>
          <p:nvPr/>
        </p:nvSpPr>
        <p:spPr>
          <a:xfrm>
            <a:off x="3611880" y="402336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P4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other</a:t>
            </a:r>
            <a:endParaRPr lang="en-US" sz="1400" dirty="0"/>
          </a:p>
        </p:txBody>
      </p:sp>
      <p:sp>
        <p:nvSpPr>
          <p:cNvPr id="14" name="Priority note"/>
          <p:cNvSpPr txBox="1"/>
          <p:nvPr/>
        </p:nvSpPr>
        <p:spPr>
          <a:xfrm>
            <a:off x="4846320" y="4297680"/>
            <a:ext cx="384048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The logarithm stops one large item from hiding the rest; the age factor slowly lifts forgotten findings.</a:t>
            </a:r>
            <a:endParaRPr lang="en-US" sz="1200" dirty="0"/>
          </a:p>
        </p:txBody>
      </p:sp>
      <p:sp>
        <p:nvSpPr>
          <p:cNvPr id="15" name="Priority example card"/>
          <p:cNvSpPr/>
          <p:nvPr/>
        </p:nvSpPr>
        <p:spPr>
          <a:xfrm>
            <a:off x="457200" y="4892040"/>
            <a:ext cx="822960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6" name="Priority example"/>
          <p:cNvSpPr txBox="1"/>
          <p:nvPr/>
        </p:nvSpPr>
        <p:spPr>
          <a:xfrm>
            <a:off x="594360" y="4892040"/>
            <a:ext cx="7955280" cy="1508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Worked example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stopped VM costing $70.08 a month with confidence 0.9: impact = 0.617, medium severity 0.55, score = 100 x (0.6 x 0.617 + 0.4 x 0.55) x 0.9 = 53 (P2). After 30 days open the age factor is 1.3 and the score becomes 69, still P2.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922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365760" y="12801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Methodology: Lifecycle and Verification</a:t>
            </a:r>
            <a:endParaRPr lang="en-US" sz="3000" dirty="0"/>
          </a:p>
        </p:txBody>
      </p:sp>
      <p:pic>
        <p:nvPicPr>
          <p:cNvPr id="3" name="Finding lifecycle with automatic and manual transitions" descr="Finding lifecycle with automatic and manual transiti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194560"/>
            <a:ext cx="5029200" cy="3355848"/>
          </a:xfrm>
          <a:prstGeom prst="rect">
            <a:avLst/>
          </a:prstGeom>
        </p:spPr>
      </p:pic>
      <p:sp>
        <p:nvSpPr>
          <p:cNvPr id="4" name="Lifecycle note"/>
          <p:cNvSpPr txBox="1"/>
          <p:nvPr/>
        </p:nvSpPr>
        <p:spPr>
          <a:xfrm>
            <a:off x="457200" y="5623560"/>
            <a:ext cx="502920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Owners and admins may take every action; the assignee may start and resolve; viewers only read. Dismissing needs a written reason; snoozing lasts 1 to 90 days.</a:t>
            </a:r>
            <a:endParaRPr lang="en-US" sz="1300" dirty="0"/>
          </a:p>
        </p:txBody>
      </p:sp>
      <p:sp>
        <p:nvSpPr>
          <p:cNvPr id="5" name="Verification heading"/>
          <p:cNvSpPr txBox="1"/>
          <p:nvPr/>
        </p:nvSpPr>
        <p:spPr>
          <a:xfrm>
            <a:off x="5669280" y="2194560"/>
            <a:ext cx="301752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7-day bill check</a:t>
            </a:r>
            <a:endParaRPr lang="en-US" sz="1700" dirty="0"/>
          </a:p>
        </p:txBody>
      </p:sp>
      <p:sp>
        <p:nvSpPr>
          <p:cNvPr id="6" name="Verification formula box"/>
          <p:cNvSpPr/>
          <p:nvPr/>
        </p:nvSpPr>
        <p:spPr>
          <a:xfrm>
            <a:off x="5669280" y="2606040"/>
            <a:ext cx="3017520" cy="2286000"/>
          </a:xfrm>
          <a:prstGeom prst="roundRect">
            <a:avLst>
              <a:gd name="adj" fmla="val 24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7" name="Verification formula"/>
          <p:cNvSpPr txBox="1"/>
          <p:nvPr/>
        </p:nvSpPr>
        <p:spPr>
          <a:xfrm>
            <a:off x="5760720" y="2679192"/>
            <a:ext cx="2834640" cy="21396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 = mean daily cost,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7 days before the fix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 = mean daily cost,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up to 7 days after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saved = max(0, before-after)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* 30.4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needs &gt;= 3 billed days</a:t>
            </a:r>
            <a:endParaRPr lang="en-US" sz="1100" dirty="0"/>
          </a:p>
        </p:txBody>
      </p:sp>
      <p:sp>
        <p:nvSpPr>
          <p:cNvPr id="8" name="Reopen card"/>
          <p:cNvSpPr/>
          <p:nvPr/>
        </p:nvSpPr>
        <p:spPr>
          <a:xfrm>
            <a:off x="5669280" y="5029200"/>
            <a:ext cx="301752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9" name="Reopen text"/>
          <p:cNvSpPr txBox="1"/>
          <p:nvPr/>
        </p:nvSpPr>
        <p:spPr>
          <a:xfrm>
            <a:off x="5760720" y="5029200"/>
            <a:ext cx="283464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If a verified resource appears again, the finding reopens and the saving is withdrawn.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922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365760" y="12801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Implementation / Modules</a:t>
            </a:r>
            <a:endParaRPr lang="en-US" sz="3000" dirty="0"/>
          </a:p>
        </p:txBody>
      </p:sp>
      <p:sp>
        <p:nvSpPr>
          <p:cNvPr id="3" name="Module card 1"/>
          <p:cNvSpPr/>
          <p:nvPr/>
        </p:nvSpPr>
        <p:spPr>
          <a:xfrm>
            <a:off x="457200" y="2194560"/>
            <a:ext cx="265176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Module icon 1 circle"/>
          <p:cNvSpPr/>
          <p:nvPr/>
        </p:nvSpPr>
        <p:spPr>
          <a:xfrm>
            <a:off x="594360" y="2331720"/>
            <a:ext cx="502920" cy="50292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pic>
        <p:nvPicPr>
          <p:cNvPr id="5" name="Module icon 1" descr="Module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90" y="2457450"/>
            <a:ext cx="251460" cy="251460"/>
          </a:xfrm>
          <a:prstGeom prst="rect">
            <a:avLst/>
          </a:prstGeom>
        </p:spPr>
      </p:pic>
      <p:sp>
        <p:nvSpPr>
          <p:cNvPr id="6" name="Module label 1"/>
          <p:cNvSpPr txBox="1"/>
          <p:nvPr/>
        </p:nvSpPr>
        <p:spPr>
          <a:xfrm>
            <a:off x="1188720" y="2331720"/>
            <a:ext cx="18288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Module 1</a:t>
            </a:r>
            <a:endParaRPr lang="en-US" sz="1300" dirty="0"/>
          </a:p>
        </p:txBody>
      </p:sp>
      <p:sp>
        <p:nvSpPr>
          <p:cNvPr id="7" name="Module title 1"/>
          <p:cNvSpPr txBox="1"/>
          <p:nvPr/>
        </p:nvSpPr>
        <p:spPr>
          <a:xfrm>
            <a:off x="594360" y="2907792"/>
            <a:ext cx="242316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Azure Collector</a:t>
            </a:r>
            <a:endParaRPr lang="en-US" sz="1600" dirty="0"/>
          </a:p>
        </p:txBody>
      </p:sp>
      <p:sp>
        <p:nvSpPr>
          <p:cNvPr id="8" name="Module text 1"/>
          <p:cNvSpPr txBox="1"/>
          <p:nvPr/>
        </p:nvSpPr>
        <p:spPr>
          <a:xfrm>
            <a:off x="594360" y="3273552"/>
            <a:ext cx="242316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Custom ARM REST client: cost, inventory, metrics, Activity Log, Advisor</a:t>
            </a:r>
            <a:endParaRPr lang="en-US" sz="1300" dirty="0"/>
          </a:p>
        </p:txBody>
      </p:sp>
      <p:sp>
        <p:nvSpPr>
          <p:cNvPr id="9" name="Module file 1"/>
          <p:cNvSpPr txBox="1"/>
          <p:nvPr/>
        </p:nvSpPr>
        <p:spPr>
          <a:xfrm>
            <a:off x="594360" y="3913632"/>
            <a:ext cx="24231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azure_collector.py</a:t>
            </a:r>
            <a:endParaRPr lang="en-US" sz="1100" dirty="0"/>
          </a:p>
        </p:txBody>
      </p:sp>
      <p:sp>
        <p:nvSpPr>
          <p:cNvPr id="10" name="Module card 2"/>
          <p:cNvSpPr/>
          <p:nvPr/>
        </p:nvSpPr>
        <p:spPr>
          <a:xfrm>
            <a:off x="3246120" y="2194560"/>
            <a:ext cx="265176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1" name="Module icon 2 circle"/>
          <p:cNvSpPr/>
          <p:nvPr/>
        </p:nvSpPr>
        <p:spPr>
          <a:xfrm>
            <a:off x="3383280" y="2331720"/>
            <a:ext cx="502920" cy="50292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12" name="Module icon 2" descr="Module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9010" y="2457450"/>
            <a:ext cx="251460" cy="251460"/>
          </a:xfrm>
          <a:prstGeom prst="rect">
            <a:avLst/>
          </a:prstGeom>
        </p:spPr>
      </p:pic>
      <p:sp>
        <p:nvSpPr>
          <p:cNvPr id="13" name="Module label 2"/>
          <p:cNvSpPr txBox="1"/>
          <p:nvPr/>
        </p:nvSpPr>
        <p:spPr>
          <a:xfrm>
            <a:off x="3977640" y="2331720"/>
            <a:ext cx="18288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Module 2</a:t>
            </a:r>
            <a:endParaRPr lang="en-US" sz="1300" dirty="0"/>
          </a:p>
        </p:txBody>
      </p:sp>
      <p:sp>
        <p:nvSpPr>
          <p:cNvPr id="14" name="Module title 2"/>
          <p:cNvSpPr txBox="1"/>
          <p:nvPr/>
        </p:nvSpPr>
        <p:spPr>
          <a:xfrm>
            <a:off x="3383280" y="2907792"/>
            <a:ext cx="242316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Detectors and Analytics</a:t>
            </a:r>
            <a:endParaRPr lang="en-US" sz="1600" dirty="0"/>
          </a:p>
        </p:txBody>
      </p:sp>
      <p:sp>
        <p:nvSpPr>
          <p:cNvPr id="15" name="Module text 2"/>
          <p:cNvSpPr txBox="1"/>
          <p:nvPr/>
        </p:nvSpPr>
        <p:spPr>
          <a:xfrm>
            <a:off x="3383280" y="3273552"/>
            <a:ext cx="242316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Idle and oversized rules, z-score anomalies, Holt forecast</a:t>
            </a:r>
            <a:endParaRPr lang="en-US" sz="1300" dirty="0"/>
          </a:p>
        </p:txBody>
      </p:sp>
      <p:sp>
        <p:nvSpPr>
          <p:cNvPr id="16" name="Module file 2"/>
          <p:cNvSpPr txBox="1"/>
          <p:nvPr/>
        </p:nvSpPr>
        <p:spPr>
          <a:xfrm>
            <a:off x="3383280" y="3913632"/>
            <a:ext cx="24231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analytics.py</a:t>
            </a:r>
            <a:endParaRPr lang="en-US" sz="1100" dirty="0"/>
          </a:p>
        </p:txBody>
      </p:sp>
      <p:sp>
        <p:nvSpPr>
          <p:cNvPr id="17" name="Module card 3"/>
          <p:cNvSpPr/>
          <p:nvPr/>
        </p:nvSpPr>
        <p:spPr>
          <a:xfrm>
            <a:off x="6035040" y="2194560"/>
            <a:ext cx="265176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8" name="Module icon 3 circle"/>
          <p:cNvSpPr/>
          <p:nvPr/>
        </p:nvSpPr>
        <p:spPr>
          <a:xfrm>
            <a:off x="6172200" y="2331720"/>
            <a:ext cx="502920" cy="50292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pic>
        <p:nvPicPr>
          <p:cNvPr id="19" name="Module icon 3" descr="Module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7930" y="2457450"/>
            <a:ext cx="251460" cy="251460"/>
          </a:xfrm>
          <a:prstGeom prst="rect">
            <a:avLst/>
          </a:prstGeom>
        </p:spPr>
      </p:pic>
      <p:sp>
        <p:nvSpPr>
          <p:cNvPr id="20" name="Module label 3"/>
          <p:cNvSpPr txBox="1"/>
          <p:nvPr/>
        </p:nvSpPr>
        <p:spPr>
          <a:xfrm>
            <a:off x="6766560" y="2331720"/>
            <a:ext cx="18288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Module 3</a:t>
            </a:r>
            <a:endParaRPr lang="en-US" sz="1300" dirty="0"/>
          </a:p>
        </p:txBody>
      </p:sp>
      <p:sp>
        <p:nvSpPr>
          <p:cNvPr id="21" name="Module title 3"/>
          <p:cNvSpPr txBox="1"/>
          <p:nvPr/>
        </p:nvSpPr>
        <p:spPr>
          <a:xfrm>
            <a:off x="6172200" y="2907792"/>
            <a:ext cx="242316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Findings Engine</a:t>
            </a:r>
            <a:endParaRPr lang="en-US" sz="1600" dirty="0"/>
          </a:p>
        </p:txBody>
      </p:sp>
      <p:sp>
        <p:nvSpPr>
          <p:cNvPr id="22" name="Module text 3"/>
          <p:cNvSpPr txBox="1"/>
          <p:nvPr/>
        </p:nvSpPr>
        <p:spPr>
          <a:xfrm>
            <a:off x="6172200" y="3273552"/>
            <a:ext cx="242316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Fingerprints, priority score, lifecycle, 7-day verification</a:t>
            </a:r>
            <a:endParaRPr lang="en-US" sz="1300" dirty="0"/>
          </a:p>
        </p:txBody>
      </p:sp>
      <p:sp>
        <p:nvSpPr>
          <p:cNvPr id="23" name="Module file 3"/>
          <p:cNvSpPr txBox="1"/>
          <p:nvPr/>
        </p:nvSpPr>
        <p:spPr>
          <a:xfrm>
            <a:off x="6172200" y="3913632"/>
            <a:ext cx="24231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findings.py</a:t>
            </a:r>
            <a:endParaRPr lang="en-US" sz="1100" dirty="0"/>
          </a:p>
        </p:txBody>
      </p:sp>
      <p:sp>
        <p:nvSpPr>
          <p:cNvPr id="24" name="Module card 4"/>
          <p:cNvSpPr/>
          <p:nvPr/>
        </p:nvSpPr>
        <p:spPr>
          <a:xfrm>
            <a:off x="457200" y="4343400"/>
            <a:ext cx="265176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5" name="Module icon 4 circle"/>
          <p:cNvSpPr/>
          <p:nvPr/>
        </p:nvSpPr>
        <p:spPr>
          <a:xfrm>
            <a:off x="594360" y="4480560"/>
            <a:ext cx="502920" cy="50292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26" name="Module icon 4" descr="Module icon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90" y="4606290"/>
            <a:ext cx="251460" cy="251460"/>
          </a:xfrm>
          <a:prstGeom prst="rect">
            <a:avLst/>
          </a:prstGeom>
        </p:spPr>
      </p:pic>
      <p:sp>
        <p:nvSpPr>
          <p:cNvPr id="27" name="Module label 4"/>
          <p:cNvSpPr txBox="1"/>
          <p:nvPr/>
        </p:nvSpPr>
        <p:spPr>
          <a:xfrm>
            <a:off x="1188720" y="4480560"/>
            <a:ext cx="18288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Module 4</a:t>
            </a:r>
            <a:endParaRPr lang="en-US" sz="1300" dirty="0"/>
          </a:p>
        </p:txBody>
      </p:sp>
      <p:sp>
        <p:nvSpPr>
          <p:cNvPr id="28" name="Module title 4"/>
          <p:cNvSpPr txBox="1"/>
          <p:nvPr/>
        </p:nvSpPr>
        <p:spPr>
          <a:xfrm>
            <a:off x="594360" y="5056632"/>
            <a:ext cx="242316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Owner Resolver</a:t>
            </a:r>
            <a:endParaRPr lang="en-US" sz="1600" dirty="0"/>
          </a:p>
        </p:txBody>
      </p:sp>
      <p:sp>
        <p:nvSpPr>
          <p:cNvPr id="29" name="Module text 4"/>
          <p:cNvSpPr txBox="1"/>
          <p:nvPr/>
        </p:nvSpPr>
        <p:spPr>
          <a:xfrm>
            <a:off x="594360" y="5422392"/>
            <a:ext cx="242316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Creator from the Activity Log, then owner tags; cached</a:t>
            </a:r>
            <a:endParaRPr lang="en-US" sz="1300" dirty="0"/>
          </a:p>
        </p:txBody>
      </p:sp>
      <p:sp>
        <p:nvSpPr>
          <p:cNvPr id="30" name="Module file 4"/>
          <p:cNvSpPr txBox="1"/>
          <p:nvPr/>
        </p:nvSpPr>
        <p:spPr>
          <a:xfrm>
            <a:off x="594360" y="6062472"/>
            <a:ext cx="24231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owners.py</a:t>
            </a:r>
            <a:endParaRPr lang="en-US" sz="1100" dirty="0"/>
          </a:p>
        </p:txBody>
      </p:sp>
      <p:sp>
        <p:nvSpPr>
          <p:cNvPr id="31" name="Module card 5"/>
          <p:cNvSpPr/>
          <p:nvPr/>
        </p:nvSpPr>
        <p:spPr>
          <a:xfrm>
            <a:off x="3246120" y="4343400"/>
            <a:ext cx="265176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32" name="Module icon 5 circle"/>
          <p:cNvSpPr/>
          <p:nvPr/>
        </p:nvSpPr>
        <p:spPr>
          <a:xfrm>
            <a:off x="3383280" y="4480560"/>
            <a:ext cx="502920" cy="50292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pic>
        <p:nvPicPr>
          <p:cNvPr id="33" name="Module icon 5" descr="Module icon 5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9010" y="4606290"/>
            <a:ext cx="251460" cy="251460"/>
          </a:xfrm>
          <a:prstGeom prst="rect">
            <a:avLst/>
          </a:prstGeom>
        </p:spPr>
      </p:pic>
      <p:sp>
        <p:nvSpPr>
          <p:cNvPr id="34" name="Module label 5"/>
          <p:cNvSpPr txBox="1"/>
          <p:nvPr/>
        </p:nvSpPr>
        <p:spPr>
          <a:xfrm>
            <a:off x="3977640" y="4480560"/>
            <a:ext cx="18288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Module 5</a:t>
            </a:r>
            <a:endParaRPr lang="en-US" sz="1300" dirty="0"/>
          </a:p>
        </p:txBody>
      </p:sp>
      <p:sp>
        <p:nvSpPr>
          <p:cNvPr id="35" name="Module title 5"/>
          <p:cNvSpPr txBox="1"/>
          <p:nvPr/>
        </p:nvSpPr>
        <p:spPr>
          <a:xfrm>
            <a:off x="3383280" y="5056632"/>
            <a:ext cx="242316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API and Security</a:t>
            </a:r>
            <a:endParaRPr lang="en-US" sz="1600" dirty="0"/>
          </a:p>
        </p:txBody>
      </p:sp>
      <p:sp>
        <p:nvSpPr>
          <p:cNvPr id="36" name="Module text 5"/>
          <p:cNvSpPr txBox="1"/>
          <p:nvPr/>
        </p:nvSpPr>
        <p:spPr>
          <a:xfrm>
            <a:off x="3383280" y="5422392"/>
            <a:ext cx="242316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FastAPI routers, roles, sessions, CSRF header, audit log</a:t>
            </a:r>
            <a:endParaRPr lang="en-US" sz="1300" dirty="0"/>
          </a:p>
        </p:txBody>
      </p:sp>
      <p:sp>
        <p:nvSpPr>
          <p:cNvPr id="37" name="Module file 5"/>
          <p:cNvSpPr txBox="1"/>
          <p:nvPr/>
        </p:nvSpPr>
        <p:spPr>
          <a:xfrm>
            <a:off x="3383280" y="6062472"/>
            <a:ext cx="24231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routers/</a:t>
            </a:r>
            <a:endParaRPr lang="en-US" sz="1100" dirty="0"/>
          </a:p>
        </p:txBody>
      </p:sp>
      <p:sp>
        <p:nvSpPr>
          <p:cNvPr id="38" name="Module card 6"/>
          <p:cNvSpPr/>
          <p:nvPr/>
        </p:nvSpPr>
        <p:spPr>
          <a:xfrm>
            <a:off x="6035040" y="4343400"/>
            <a:ext cx="265176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39" name="Module icon 6 circle"/>
          <p:cNvSpPr/>
          <p:nvPr/>
        </p:nvSpPr>
        <p:spPr>
          <a:xfrm>
            <a:off x="6172200" y="4480560"/>
            <a:ext cx="502920" cy="50292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pic>
        <p:nvPicPr>
          <p:cNvPr id="40" name="Module icon 6" descr="Module icon 6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7930" y="4606290"/>
            <a:ext cx="251460" cy="251460"/>
          </a:xfrm>
          <a:prstGeom prst="rect">
            <a:avLst/>
          </a:prstGeom>
        </p:spPr>
      </p:pic>
      <p:sp>
        <p:nvSpPr>
          <p:cNvPr id="41" name="Module label 6"/>
          <p:cNvSpPr txBox="1"/>
          <p:nvPr/>
        </p:nvSpPr>
        <p:spPr>
          <a:xfrm>
            <a:off x="6766560" y="4480560"/>
            <a:ext cx="18288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Module 6</a:t>
            </a:r>
            <a:endParaRPr lang="en-US" sz="1300" dirty="0"/>
          </a:p>
        </p:txBody>
      </p:sp>
      <p:sp>
        <p:nvSpPr>
          <p:cNvPr id="42" name="Module title 6"/>
          <p:cNvSpPr txBox="1"/>
          <p:nvPr/>
        </p:nvSpPr>
        <p:spPr>
          <a:xfrm>
            <a:off x="6172200" y="5056632"/>
            <a:ext cx="242316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Web Interface</a:t>
            </a:r>
            <a:endParaRPr lang="en-US" sz="1600" dirty="0"/>
          </a:p>
        </p:txBody>
      </p:sp>
      <p:sp>
        <p:nvSpPr>
          <p:cNvPr id="43" name="Module text 6"/>
          <p:cNvSpPr txBox="1"/>
          <p:nvPr/>
        </p:nvSpPr>
        <p:spPr>
          <a:xfrm>
            <a:off x="6172200" y="5422392"/>
            <a:ext cx="242316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10 pages, SVG charts, notifications, CSV export</a:t>
            </a:r>
            <a:endParaRPr lang="en-US" sz="1300" dirty="0"/>
          </a:p>
        </p:txBody>
      </p:sp>
      <p:sp>
        <p:nvSpPr>
          <p:cNvPr id="44" name="Module file 6"/>
          <p:cNvSpPr txBox="1"/>
          <p:nvPr/>
        </p:nvSpPr>
        <p:spPr>
          <a:xfrm>
            <a:off x="6172200" y="6062472"/>
            <a:ext cx="24231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static/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922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365760" y="12801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Security Architecture</a:t>
            </a:r>
            <a:endParaRPr lang="en-US" sz="3000" dirty="0"/>
          </a:p>
        </p:txBody>
      </p:sp>
      <p:graphicFrame>
        <p:nvGraphicFramePr>
          <p:cNvPr id="21" name="Security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822960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52120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Threat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Control in CloudPulse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Stolen password database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scrypt hashes with a random salt per user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Password guessing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 failures per 15 minutes; generic error text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Session theft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Hashed random token; HttpOnly, SameSite cookie; 12 h life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Cross-site request forgery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Custom X-CloudPulse header required on every write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Leaked cloud credential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Read-only roles, Fernet encryption, managed identity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Cross-tenant access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Every query scoped to the user's workspace membership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Accidental cloud change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Collector issues only GETs and two query POSTs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ecurity note"/>
          <p:cNvSpPr txBox="1"/>
          <p:nvPr/>
        </p:nvSpPr>
        <p:spPr>
          <a:xfrm>
            <a:off x="457200" y="5989320"/>
            <a:ext cx="82296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Clickjacking and sniffing are blocked with X-Frame-Options DENY, nosniff and a same-origin referrer policy.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922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365760" y="12801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Testing and Validation</a:t>
            </a:r>
            <a:endParaRPr lang="en-US" sz="3000" dirty="0"/>
          </a:p>
        </p:txBody>
      </p:sp>
      <p:sp>
        <p:nvSpPr>
          <p:cNvPr id="3" name="Stat pytest card"/>
          <p:cNvSpPr/>
          <p:nvPr/>
        </p:nvSpPr>
        <p:spPr>
          <a:xfrm>
            <a:off x="457200" y="2194560"/>
            <a:ext cx="402336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Stat pytest value"/>
          <p:cNvSpPr txBox="1"/>
          <p:nvPr/>
        </p:nvSpPr>
        <p:spPr>
          <a:xfrm>
            <a:off x="457200" y="2267712"/>
            <a:ext cx="4023360" cy="6537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27 / 27</a:t>
            </a:r>
            <a:endParaRPr lang="en-US" sz="3000" dirty="0"/>
          </a:p>
        </p:txBody>
      </p:sp>
      <p:sp>
        <p:nvSpPr>
          <p:cNvPr id="5" name="Stat pytest label"/>
          <p:cNvSpPr txBox="1"/>
          <p:nvPr/>
        </p:nvSpPr>
        <p:spPr>
          <a:xfrm>
            <a:off x="548640" y="2884018"/>
            <a:ext cx="38404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automated tests passed (pytest)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3520440"/>
          <a:ext cx="4023360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Azure validation card"/>
          <p:cNvSpPr/>
          <p:nvPr/>
        </p:nvSpPr>
        <p:spPr>
          <a:xfrm>
            <a:off x="4663440" y="2194560"/>
            <a:ext cx="4023360" cy="4206240"/>
          </a:xfrm>
          <a:prstGeom prst="roundRect">
            <a:avLst>
              <a:gd name="adj" fmla="val 1818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8" name="Validation heading"/>
          <p:cNvSpPr txBox="1"/>
          <p:nvPr/>
        </p:nvSpPr>
        <p:spPr>
          <a:xfrm>
            <a:off x="4800600" y="2240280"/>
            <a:ext cx="374904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Real Azure validation</a:t>
            </a:r>
            <a:endParaRPr lang="en-US" sz="1800" dirty="0"/>
          </a:p>
        </p:txBody>
      </p:sp>
      <p:sp>
        <p:nvSpPr>
          <p:cNvPr id="9" name="Validation intro"/>
          <p:cNvSpPr txBox="1"/>
          <p:nvPr/>
        </p:nvSpPr>
        <p:spPr>
          <a:xfrm>
            <a:off x="4800600" y="2697480"/>
            <a:ext cx="374904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Scripts plant four untagged wasted resources; CloudPulse must find the creator from the Activity Log.</a:t>
            </a:r>
            <a:endParaRPr lang="en-US" sz="1400" dirty="0"/>
          </a:p>
        </p:txBody>
      </p:sp>
      <p:sp>
        <p:nvSpPr>
          <p:cNvPr id="10" name="Planted 1"/>
          <p:cNvSpPr txBox="1"/>
          <p:nvPr/>
        </p:nvSpPr>
        <p:spPr>
          <a:xfrm>
            <a:off x="4800600" y="3611880"/>
            <a:ext cx="182880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Unattached 4 GB disk</a:t>
            </a:r>
            <a:endParaRPr lang="en-US" sz="1300" dirty="0"/>
          </a:p>
        </p:txBody>
      </p:sp>
      <p:sp>
        <p:nvSpPr>
          <p:cNvPr id="11" name="Arrow 1"/>
          <p:cNvSpPr txBox="1"/>
          <p:nvPr/>
        </p:nvSpPr>
        <p:spPr>
          <a:xfrm>
            <a:off x="6583680" y="3611880"/>
            <a:ext cx="2743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1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Finding raised 1"/>
          <p:cNvSpPr txBox="1"/>
          <p:nvPr/>
        </p:nvSpPr>
        <p:spPr>
          <a:xfrm>
            <a:off x="6858000" y="3611880"/>
            <a:ext cx="178308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Unattached disk</a:t>
            </a:r>
            <a:endParaRPr lang="en-US" sz="1300" dirty="0"/>
          </a:p>
        </p:txBody>
      </p:sp>
      <p:sp>
        <p:nvSpPr>
          <p:cNvPr id="13" name="Planted 2"/>
          <p:cNvSpPr txBox="1"/>
          <p:nvPr/>
        </p:nvSpPr>
        <p:spPr>
          <a:xfrm>
            <a:off x="4800600" y="4050792"/>
            <a:ext cx="182880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Unused static IP</a:t>
            </a:r>
            <a:endParaRPr lang="en-US" sz="1300" dirty="0"/>
          </a:p>
        </p:txBody>
      </p:sp>
      <p:sp>
        <p:nvSpPr>
          <p:cNvPr id="14" name="Arrow 2"/>
          <p:cNvSpPr txBox="1"/>
          <p:nvPr/>
        </p:nvSpPr>
        <p:spPr>
          <a:xfrm>
            <a:off x="6583680" y="4050792"/>
            <a:ext cx="2743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1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Finding raised 2"/>
          <p:cNvSpPr txBox="1"/>
          <p:nvPr/>
        </p:nvSpPr>
        <p:spPr>
          <a:xfrm>
            <a:off x="6858000" y="4050792"/>
            <a:ext cx="178308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Idle public IP</a:t>
            </a:r>
            <a:endParaRPr lang="en-US" sz="1300" dirty="0"/>
          </a:p>
        </p:txBody>
      </p:sp>
      <p:sp>
        <p:nvSpPr>
          <p:cNvPr id="16" name="Planted 3"/>
          <p:cNvSpPr txBox="1"/>
          <p:nvPr/>
        </p:nvSpPr>
        <p:spPr>
          <a:xfrm>
            <a:off x="4800600" y="4489704"/>
            <a:ext cx="182880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Snapshot of deleted disk</a:t>
            </a:r>
            <a:endParaRPr lang="en-US" sz="1300" dirty="0"/>
          </a:p>
        </p:txBody>
      </p:sp>
      <p:sp>
        <p:nvSpPr>
          <p:cNvPr id="17" name="Arrow 3"/>
          <p:cNvSpPr txBox="1"/>
          <p:nvPr/>
        </p:nvSpPr>
        <p:spPr>
          <a:xfrm>
            <a:off x="6583680" y="4489704"/>
            <a:ext cx="2743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1"/>
                </a:solidFill>
              </a:rPr>
              <a:t>→</a:t>
            </a:r>
            <a:endParaRPr lang="en-US" sz="1400" dirty="0"/>
          </a:p>
        </p:txBody>
      </p:sp>
      <p:sp>
        <p:nvSpPr>
          <p:cNvPr id="18" name="Finding raised 3"/>
          <p:cNvSpPr txBox="1"/>
          <p:nvPr/>
        </p:nvSpPr>
        <p:spPr>
          <a:xfrm>
            <a:off x="6858000" y="4489704"/>
            <a:ext cx="178308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Orphaned snapshot</a:t>
            </a:r>
            <a:endParaRPr lang="en-US" sz="1300" dirty="0"/>
          </a:p>
        </p:txBody>
      </p:sp>
      <p:sp>
        <p:nvSpPr>
          <p:cNvPr id="19" name="Planted 4"/>
          <p:cNvSpPr txBox="1"/>
          <p:nvPr/>
        </p:nvSpPr>
        <p:spPr>
          <a:xfrm>
            <a:off x="4800600" y="4928616"/>
            <a:ext cx="182880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Stopped VM</a:t>
            </a:r>
            <a:endParaRPr lang="en-US" sz="1300" dirty="0"/>
          </a:p>
        </p:txBody>
      </p:sp>
      <p:sp>
        <p:nvSpPr>
          <p:cNvPr id="20" name="Arrow 4"/>
          <p:cNvSpPr txBox="1"/>
          <p:nvPr/>
        </p:nvSpPr>
        <p:spPr>
          <a:xfrm>
            <a:off x="6583680" y="4928616"/>
            <a:ext cx="2743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1"/>
                </a:solidFill>
              </a:rPr>
              <a:t>→</a:t>
            </a:r>
            <a:endParaRPr lang="en-US" sz="1400" dirty="0"/>
          </a:p>
        </p:txBody>
      </p:sp>
      <p:sp>
        <p:nvSpPr>
          <p:cNvPr id="21" name="Finding raised 4"/>
          <p:cNvSpPr txBox="1"/>
          <p:nvPr/>
        </p:nvSpPr>
        <p:spPr>
          <a:xfrm>
            <a:off x="6858000" y="4928616"/>
            <a:ext cx="178308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Stopped but billed</a:t>
            </a:r>
            <a:endParaRPr lang="en-US" sz="1300" dirty="0"/>
          </a:p>
        </p:txBody>
      </p:sp>
      <p:sp>
        <p:nvSpPr>
          <p:cNvPr id="22" name="Browser review note"/>
          <p:cNvSpPr txBox="1"/>
          <p:nvPr/>
        </p:nvSpPr>
        <p:spPr>
          <a:xfrm>
            <a:off x="4800600" y="5440680"/>
            <a:ext cx="374904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A headless-browser review of every page also caught a mistyped colour that made text almost transparent; it was fixed and covered by a test.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922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365760" y="12801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Results: Sign-in and Overview</a:t>
            </a:r>
            <a:endParaRPr lang="en-US" sz="3000" dirty="0"/>
          </a:p>
        </p:txBody>
      </p:sp>
      <p:pic>
        <p:nvPicPr>
          <p:cNvPr id="3" name="CloudPulse overview page, administrator view of the demo workspace" descr="CloudPulse overview page, administrator view of the demo workspa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194560"/>
            <a:ext cx="5120640" cy="2578608"/>
          </a:xfrm>
          <a:prstGeom prst="rect">
            <a:avLst/>
          </a:prstGeom>
        </p:spPr>
      </p:pic>
      <p:sp>
        <p:nvSpPr>
          <p:cNvPr id="4" name="Stat spend card"/>
          <p:cNvSpPr/>
          <p:nvPr/>
        </p:nvSpPr>
        <p:spPr>
          <a:xfrm>
            <a:off x="5760720" y="2194560"/>
            <a:ext cx="141732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" name="Stat spend value"/>
          <p:cNvSpPr txBox="1"/>
          <p:nvPr/>
        </p:nvSpPr>
        <p:spPr>
          <a:xfrm>
            <a:off x="5760720" y="2267712"/>
            <a:ext cx="1417320" cy="6537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$2,829.99</a:t>
            </a:r>
            <a:endParaRPr lang="en-US" sz="2200" dirty="0"/>
          </a:p>
        </p:txBody>
      </p:sp>
      <p:sp>
        <p:nvSpPr>
          <p:cNvPr id="6" name="Stat spend label"/>
          <p:cNvSpPr txBox="1"/>
          <p:nvPr/>
        </p:nvSpPr>
        <p:spPr>
          <a:xfrm>
            <a:off x="5852160" y="2884018"/>
            <a:ext cx="123444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spend, 30 days</a:t>
            </a:r>
            <a:endParaRPr lang="en-US" sz="1200" dirty="0"/>
          </a:p>
        </p:txBody>
      </p:sp>
      <p:sp>
        <p:nvSpPr>
          <p:cNvPr id="7" name="Stat open card"/>
          <p:cNvSpPr/>
          <p:nvPr/>
        </p:nvSpPr>
        <p:spPr>
          <a:xfrm>
            <a:off x="7269480" y="2194560"/>
            <a:ext cx="141732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8" name="Stat open value"/>
          <p:cNvSpPr txBox="1"/>
          <p:nvPr/>
        </p:nvSpPr>
        <p:spPr>
          <a:xfrm>
            <a:off x="7269480" y="2267712"/>
            <a:ext cx="1417320" cy="6537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$262.94</a:t>
            </a:r>
            <a:endParaRPr lang="en-US" sz="2200" dirty="0"/>
          </a:p>
        </p:txBody>
      </p:sp>
      <p:sp>
        <p:nvSpPr>
          <p:cNvPr id="9" name="Stat open label"/>
          <p:cNvSpPr txBox="1"/>
          <p:nvPr/>
        </p:nvSpPr>
        <p:spPr>
          <a:xfrm>
            <a:off x="7360920" y="2884018"/>
            <a:ext cx="123444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waiting to be fixed / month</a:t>
            </a:r>
            <a:endParaRPr lang="en-US" sz="1200" dirty="0"/>
          </a:p>
        </p:txBody>
      </p:sp>
      <p:sp>
        <p:nvSpPr>
          <p:cNvPr id="10" name="Stat verified card"/>
          <p:cNvSpPr/>
          <p:nvPr/>
        </p:nvSpPr>
        <p:spPr>
          <a:xfrm>
            <a:off x="5760720" y="3520440"/>
            <a:ext cx="141732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1" name="Stat verified value"/>
          <p:cNvSpPr txBox="1"/>
          <p:nvPr/>
        </p:nvSpPr>
        <p:spPr>
          <a:xfrm>
            <a:off x="5760720" y="3593592"/>
            <a:ext cx="1417320" cy="6537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$33.44</a:t>
            </a:r>
            <a:endParaRPr lang="en-US" sz="2200" dirty="0"/>
          </a:p>
        </p:txBody>
      </p:sp>
      <p:sp>
        <p:nvSpPr>
          <p:cNvPr id="12" name="Stat verified label"/>
          <p:cNvSpPr txBox="1"/>
          <p:nvPr/>
        </p:nvSpPr>
        <p:spPr>
          <a:xfrm>
            <a:off x="5852160" y="4209898"/>
            <a:ext cx="123444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verified savings / month</a:t>
            </a:r>
            <a:endParaRPr lang="en-US" sz="1200" dirty="0"/>
          </a:p>
        </p:txBody>
      </p:sp>
      <p:sp>
        <p:nvSpPr>
          <p:cNvPr id="13" name="Stat budget card"/>
          <p:cNvSpPr/>
          <p:nvPr/>
        </p:nvSpPr>
        <p:spPr>
          <a:xfrm>
            <a:off x="7269480" y="3520440"/>
            <a:ext cx="141732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4" name="Stat budget value"/>
          <p:cNvSpPr txBox="1"/>
          <p:nvPr/>
        </p:nvSpPr>
        <p:spPr>
          <a:xfrm>
            <a:off x="7269480" y="3593592"/>
            <a:ext cx="1417320" cy="6537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109%</a:t>
            </a:r>
            <a:endParaRPr lang="en-US" sz="2200" dirty="0"/>
          </a:p>
        </p:txBody>
      </p:sp>
      <p:sp>
        <p:nvSpPr>
          <p:cNvPr id="15" name="Stat budget label"/>
          <p:cNvSpPr txBox="1"/>
          <p:nvPr/>
        </p:nvSpPr>
        <p:spPr>
          <a:xfrm>
            <a:off x="7360920" y="4209898"/>
            <a:ext cx="123444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of the $2,600 budget</a:t>
            </a:r>
            <a:endParaRPr lang="en-US" sz="1200" dirty="0"/>
          </a:p>
        </p:txBody>
      </p:sp>
      <p:pic>
        <p:nvPicPr>
          <p:cNvPr id="16" name="CloudPulse sign-in page" descr="CloudPulse sign-in pag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892040"/>
            <a:ext cx="3108960" cy="1563624"/>
          </a:xfrm>
          <a:prstGeom prst="rect">
            <a:avLst/>
          </a:prstGeom>
        </p:spPr>
      </p:pic>
      <p:sp>
        <p:nvSpPr>
          <p:cNvPr id="17" name="Overview caption"/>
          <p:cNvSpPr txBox="1"/>
          <p:nvPr/>
        </p:nvSpPr>
        <p:spPr>
          <a:xfrm>
            <a:off x="3749040" y="4846320"/>
            <a:ext cx="4937760" cy="1645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Overview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answers three questions on one page: what was spent, what needs fixing, and what fixing already saved.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Sign-in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uses administrator-created accounts; "Explore the demo" opens the read-only sample workspace.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922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365760" y="12801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Results: Cost Explorer and Anomalies</a:t>
            </a:r>
            <a:endParaRPr lang="en-US" sz="3000" dirty="0"/>
          </a:p>
        </p:txBody>
      </p:sp>
      <p:pic>
        <p:nvPicPr>
          <p:cNvPr id="3" name="Cost explorer with the daily tooltip for 18 September 2024" descr="Cost explorer with the daily tooltip for 18 September 202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194560"/>
            <a:ext cx="4023360" cy="2029968"/>
          </a:xfrm>
          <a:prstGeom prst="rect">
            <a:avLst/>
          </a:prstGeom>
        </p:spPr>
      </p:pic>
      <p:pic>
        <p:nvPicPr>
          <p:cNvPr id="4" name="Anomalies page showing the flagged day 24 September 2024" descr="Anomalies page showing the flagged day 24 September 2024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194560"/>
            <a:ext cx="4023360" cy="1920240"/>
          </a:xfrm>
          <a:prstGeom prst="rect">
            <a:avLst/>
          </a:prstGeom>
        </p:spPr>
      </p:pic>
      <p:sp>
        <p:nvSpPr>
          <p:cNvPr id="5" name="Explorer notes"/>
          <p:cNvSpPr txBox="1"/>
          <p:nvPr/>
        </p:nvSpPr>
        <p:spPr>
          <a:xfrm>
            <a:off x="457200" y="4389120"/>
            <a:ext cx="4023360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$2,829.99 over 30 days across 80 services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Stacked daily bars by service or provider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AWS and Azure normalised with FOCUS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18 Sep total: $201.95</a:t>
            </a:r>
            <a:endParaRPr lang="en-US" sz="1400" dirty="0"/>
          </a:p>
        </p:txBody>
      </p:sp>
      <p:sp>
        <p:nvSpPr>
          <p:cNvPr id="6" name="Anomaly notes"/>
          <p:cNvSpPr txBox="1"/>
          <p:nvPr/>
        </p:nvSpPr>
        <p:spPr>
          <a:xfrm>
            <a:off x="4663440" y="4389120"/>
            <a:ext cx="4023360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24 Sep flagged: $169.26 vs $73.55 usual (z = 7.9)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EC2 drives 99.1 % of the increase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Ongoing spike: $2,909.55 a month, tracked, not counted as saving</a:t>
            </a:r>
            <a:endParaRPr lang="en-US" sz="14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Other tall days are not flagged against their own weekday baseline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922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365760" y="12801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Results: Budget Forecast</a:t>
            </a:r>
            <a:endParaRPr lang="en-US" sz="3000" dirty="0"/>
          </a:p>
        </p:txBody>
      </p:sp>
      <p:pic>
        <p:nvPicPr>
          <p:cNvPr id="3" name="Budgets page with the cumulative spend line and the budget breach marker" descr="Budgets page with the cumulative spend line and the budget breach mark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194560"/>
            <a:ext cx="5120640" cy="2441448"/>
          </a:xfrm>
          <a:prstGeom prst="rect">
            <a:avLst/>
          </a:prstGeom>
        </p:spPr>
      </p:pic>
      <p:sp>
        <p:nvSpPr>
          <p:cNvPr id="4" name="Stat budget limit card"/>
          <p:cNvSpPr/>
          <p:nvPr/>
        </p:nvSpPr>
        <p:spPr>
          <a:xfrm>
            <a:off x="5760720" y="2194560"/>
            <a:ext cx="141732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" name="Stat budget limit value"/>
          <p:cNvSpPr txBox="1"/>
          <p:nvPr/>
        </p:nvSpPr>
        <p:spPr>
          <a:xfrm>
            <a:off x="5760720" y="2267712"/>
            <a:ext cx="1417320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$2,600</a:t>
            </a:r>
            <a:endParaRPr lang="en-US" sz="3000" dirty="0"/>
          </a:p>
        </p:txBody>
      </p:sp>
      <p:sp>
        <p:nvSpPr>
          <p:cNvPr id="6" name="Stat budget limit label"/>
          <p:cNvSpPr txBox="1"/>
          <p:nvPr/>
        </p:nvSpPr>
        <p:spPr>
          <a:xfrm>
            <a:off x="5852160" y="2830982"/>
            <a:ext cx="123444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September budget</a:t>
            </a:r>
            <a:endParaRPr lang="en-US" sz="1200" dirty="0"/>
          </a:p>
        </p:txBody>
      </p:sp>
      <p:sp>
        <p:nvSpPr>
          <p:cNvPr id="7" name="Stat over card"/>
          <p:cNvSpPr/>
          <p:nvPr/>
        </p:nvSpPr>
        <p:spPr>
          <a:xfrm>
            <a:off x="7269480" y="2194560"/>
            <a:ext cx="141732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8" name="Stat over value"/>
          <p:cNvSpPr txBox="1"/>
          <p:nvPr/>
        </p:nvSpPr>
        <p:spPr>
          <a:xfrm>
            <a:off x="7269480" y="2267712"/>
            <a:ext cx="1417320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$229.99</a:t>
            </a:r>
            <a:endParaRPr lang="en-US" sz="3000" dirty="0"/>
          </a:p>
        </p:txBody>
      </p:sp>
      <p:sp>
        <p:nvSpPr>
          <p:cNvPr id="9" name="Stat over label"/>
          <p:cNvSpPr txBox="1"/>
          <p:nvPr/>
        </p:nvSpPr>
        <p:spPr>
          <a:xfrm>
            <a:off x="7360920" y="2830982"/>
            <a:ext cx="123444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over budget</a:t>
            </a:r>
            <a:endParaRPr lang="en-US" sz="1200" dirty="0"/>
          </a:p>
        </p:txBody>
      </p:sp>
      <p:sp>
        <p:nvSpPr>
          <p:cNvPr id="10" name="Stat breach date card"/>
          <p:cNvSpPr/>
          <p:nvPr/>
        </p:nvSpPr>
        <p:spPr>
          <a:xfrm>
            <a:off x="5760720" y="3429000"/>
            <a:ext cx="141732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1" name="Stat breach date value"/>
          <p:cNvSpPr txBox="1"/>
          <p:nvPr/>
        </p:nvSpPr>
        <p:spPr>
          <a:xfrm>
            <a:off x="5760720" y="3502152"/>
            <a:ext cx="1417320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28 Sep</a:t>
            </a:r>
            <a:endParaRPr lang="en-US" sz="3000" dirty="0"/>
          </a:p>
        </p:txBody>
      </p:sp>
      <p:sp>
        <p:nvSpPr>
          <p:cNvPr id="12" name="Stat breach date label"/>
          <p:cNvSpPr txBox="1"/>
          <p:nvPr/>
        </p:nvSpPr>
        <p:spPr>
          <a:xfrm>
            <a:off x="5852160" y="4065422"/>
            <a:ext cx="123444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budget breached</a:t>
            </a:r>
            <a:endParaRPr lang="en-US" sz="1200" dirty="0"/>
          </a:p>
        </p:txBody>
      </p:sp>
      <p:sp>
        <p:nvSpPr>
          <p:cNvPr id="13" name="Stat budget P1 card"/>
          <p:cNvSpPr/>
          <p:nvPr/>
        </p:nvSpPr>
        <p:spPr>
          <a:xfrm>
            <a:off x="7269480" y="3429000"/>
            <a:ext cx="141732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4" name="Stat budget P1 value"/>
          <p:cNvSpPr txBox="1"/>
          <p:nvPr/>
        </p:nvSpPr>
        <p:spPr>
          <a:xfrm>
            <a:off x="7269480" y="3502152"/>
            <a:ext cx="1417320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P1</a:t>
            </a:r>
            <a:endParaRPr lang="en-US" sz="3000" dirty="0"/>
          </a:p>
        </p:txBody>
      </p:sp>
      <p:sp>
        <p:nvSpPr>
          <p:cNvPr id="15" name="Stat budget P1 label"/>
          <p:cNvSpPr txBox="1"/>
          <p:nvPr/>
        </p:nvSpPr>
        <p:spPr>
          <a:xfrm>
            <a:off x="7360920" y="4065422"/>
            <a:ext cx="123444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budget-risk finding, score 75</a:t>
            </a:r>
            <a:endParaRPr lang="en-US" sz="1200" dirty="0"/>
          </a:p>
        </p:txBody>
      </p:sp>
      <p:sp>
        <p:nvSpPr>
          <p:cNvPr id="16" name="Budget notes"/>
          <p:cNvSpPr txBox="1"/>
          <p:nvPr/>
        </p:nvSpPr>
        <p:spPr>
          <a:xfrm>
            <a:off x="457200" y="4800600"/>
            <a:ext cx="8229600" cy="1645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Cumulative spend line, dashed budget line and a red breach marker.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For a month in progress, the Holt forecast and 80 % range extend the line and the marker moves to the predicted day.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Tooltip arithmetic checks out: $2,600 - $1,368.20 = $1,231.80 left on 17 Sep.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922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365760" y="12801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Results: Findings and Savings</a:t>
            </a:r>
            <a:endParaRPr lang="en-US" sz="3000" dirty="0"/>
          </a:p>
        </p:txBody>
      </p:sp>
      <p:graphicFrame>
        <p:nvGraphicFramePr>
          <p:cNvPr id="26" name="Finding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5120640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731520"/>
                <a:gridCol w="914400"/>
                <a:gridCol w="96012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Finding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$ / mo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Score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Status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Budget risk: Sep ended 9 % over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230.00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75 (P1)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Open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VM gpu-trial-01 stopped, still billed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70.08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69 (P2)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In progress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VM reporting-vm idle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70.08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65 (P2)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Open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VM api-prod-01 oversized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70.08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54 (P2)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Open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Disk web-01_OsDisk_old unattached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19.71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43 (P3)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</a:rPr>
                        <a:t>Verified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EBS db-backup-old unattached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16.00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39 (P3)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</a:rPr>
                        <a:t>Verified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8BE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indings caption"/>
          <p:cNvSpPr txBox="1"/>
          <p:nvPr/>
        </p:nvSpPr>
        <p:spPr>
          <a:xfrm>
            <a:off x="457200" y="5989320"/>
            <a:ext cx="512064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Top six of 12 findings in the demo workspace, ranked by score.</a:t>
            </a:r>
            <a:endParaRPr lang="en-US" sz="1200" dirty="0"/>
          </a:p>
        </p:txBody>
      </p:sp>
      <p:sp>
        <p:nvSpPr>
          <p:cNvPr id="5" name="Savings card"/>
          <p:cNvSpPr/>
          <p:nvPr/>
        </p:nvSpPr>
        <p:spPr>
          <a:xfrm>
            <a:off x="5760720" y="2194560"/>
            <a:ext cx="2926080" cy="420624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6" name="Ledger heading"/>
          <p:cNvSpPr txBox="1"/>
          <p:nvPr/>
        </p:nvSpPr>
        <p:spPr>
          <a:xfrm>
            <a:off x="5852160" y="2240280"/>
            <a:ext cx="27432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Verified savings ledger</a:t>
            </a:r>
            <a:endParaRPr lang="en-US" sz="1600" dirty="0"/>
          </a:p>
        </p:txBody>
      </p:sp>
      <p:sp>
        <p:nvSpPr>
          <p:cNvPr id="7" name="Ledger label 1"/>
          <p:cNvSpPr txBox="1"/>
          <p:nvPr/>
        </p:nvSpPr>
        <p:spPr>
          <a:xfrm>
            <a:off x="5852160" y="2788920"/>
            <a:ext cx="27432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Estimated</a:t>
            </a:r>
            <a:endParaRPr lang="en-US" sz="1300" dirty="0"/>
          </a:p>
        </p:txBody>
      </p:sp>
      <p:sp>
        <p:nvSpPr>
          <p:cNvPr id="8" name="Ledger value 1"/>
          <p:cNvSpPr txBox="1"/>
          <p:nvPr/>
        </p:nvSpPr>
        <p:spPr>
          <a:xfrm>
            <a:off x="5852160" y="3044952"/>
            <a:ext cx="27432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5"/>
                </a:solidFill>
              </a:rPr>
              <a:t>$35.71 / mo</a:t>
            </a:r>
            <a:endParaRPr lang="en-US" sz="2600" dirty="0"/>
          </a:p>
        </p:txBody>
      </p:sp>
      <p:sp>
        <p:nvSpPr>
          <p:cNvPr id="9" name="Ledger label 2"/>
          <p:cNvSpPr txBox="1"/>
          <p:nvPr/>
        </p:nvSpPr>
        <p:spPr>
          <a:xfrm>
            <a:off x="5852160" y="3703320"/>
            <a:ext cx="27432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Realised</a:t>
            </a:r>
            <a:endParaRPr lang="en-US" sz="1300" dirty="0"/>
          </a:p>
        </p:txBody>
      </p:sp>
      <p:sp>
        <p:nvSpPr>
          <p:cNvPr id="10" name="Ledger value 2"/>
          <p:cNvSpPr txBox="1"/>
          <p:nvPr/>
        </p:nvSpPr>
        <p:spPr>
          <a:xfrm>
            <a:off x="5852160" y="3959352"/>
            <a:ext cx="27432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3"/>
                </a:solidFill>
              </a:rPr>
              <a:t>$33.44 / mo</a:t>
            </a:r>
            <a:endParaRPr lang="en-US" sz="2600" dirty="0"/>
          </a:p>
        </p:txBody>
      </p:sp>
      <p:sp>
        <p:nvSpPr>
          <p:cNvPr id="11" name="Ledger label 3"/>
          <p:cNvSpPr txBox="1"/>
          <p:nvPr/>
        </p:nvSpPr>
        <p:spPr>
          <a:xfrm>
            <a:off x="5852160" y="4617720"/>
            <a:ext cx="27432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Accuracy</a:t>
            </a:r>
            <a:endParaRPr lang="en-US" sz="1300" dirty="0"/>
          </a:p>
        </p:txBody>
      </p:sp>
      <p:sp>
        <p:nvSpPr>
          <p:cNvPr id="12" name="Ledger value 3"/>
          <p:cNvSpPr txBox="1"/>
          <p:nvPr/>
        </p:nvSpPr>
        <p:spPr>
          <a:xfrm>
            <a:off x="5852160" y="4873752"/>
            <a:ext cx="27432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93.6 %</a:t>
            </a:r>
            <a:endParaRPr lang="en-US" sz="2600" dirty="0"/>
          </a:p>
        </p:txBody>
      </p:sp>
      <p:sp>
        <p:nvSpPr>
          <p:cNvPr id="13" name="Ledger note"/>
          <p:cNvSpPr txBox="1"/>
          <p:nvPr/>
        </p:nvSpPr>
        <p:spPr>
          <a:xfrm>
            <a:off x="5852160" y="5532120"/>
            <a:ext cx="274320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Two fixed resources, confirmed by the before/after bill.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922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365760" y="12801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Conclusion</a:t>
            </a:r>
            <a:endParaRPr lang="en-US" sz="3000" dirty="0"/>
          </a:p>
        </p:txBody>
      </p:sp>
      <p:sp>
        <p:nvSpPr>
          <p:cNvPr id="3" name="Conclusion card 1"/>
          <p:cNvSpPr/>
          <p:nvPr/>
        </p:nvSpPr>
        <p:spPr>
          <a:xfrm>
            <a:off x="457200" y="2194560"/>
            <a:ext cx="8229600" cy="987552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Conclusion icon 1 circle"/>
          <p:cNvSpPr/>
          <p:nvPr/>
        </p:nvSpPr>
        <p:spPr>
          <a:xfrm>
            <a:off x="594360" y="2423160"/>
            <a:ext cx="530352" cy="530352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pic>
        <p:nvPicPr>
          <p:cNvPr id="5" name="Conclusion icon 1" descr="Conclusion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" y="2555748"/>
            <a:ext cx="265176" cy="265176"/>
          </a:xfrm>
          <a:prstGeom prst="rect">
            <a:avLst/>
          </a:prstGeom>
        </p:spPr>
      </p:pic>
      <p:sp>
        <p:nvSpPr>
          <p:cNvPr id="6" name="Conclusion text 1"/>
          <p:cNvSpPr txBox="1"/>
          <p:nvPr/>
        </p:nvSpPr>
        <p:spPr>
          <a:xfrm>
            <a:off x="1325880" y="2194560"/>
            <a:ext cx="7223760" cy="9875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CloudPulse treats a cost problem as a task to be owned and proven fixed, not as a number on a chart.</a:t>
            </a:r>
            <a:endParaRPr lang="en-US" sz="1500" dirty="0"/>
          </a:p>
        </p:txBody>
      </p:sp>
      <p:sp>
        <p:nvSpPr>
          <p:cNvPr id="7" name="Conclusion card 2"/>
          <p:cNvSpPr/>
          <p:nvPr/>
        </p:nvSpPr>
        <p:spPr>
          <a:xfrm>
            <a:off x="457200" y="3291840"/>
            <a:ext cx="8229600" cy="987552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8" name="Conclusion icon 2 circle"/>
          <p:cNvSpPr/>
          <p:nvPr/>
        </p:nvSpPr>
        <p:spPr>
          <a:xfrm>
            <a:off x="594360" y="3520440"/>
            <a:ext cx="530352" cy="530352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pic>
        <p:nvPicPr>
          <p:cNvPr id="9" name="Conclusion icon 2" descr="Conclusion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" y="3653028"/>
            <a:ext cx="265176" cy="265176"/>
          </a:xfrm>
          <a:prstGeom prst="rect">
            <a:avLst/>
          </a:prstGeom>
        </p:spPr>
      </p:pic>
      <p:sp>
        <p:nvSpPr>
          <p:cNvPr id="10" name="Conclusion text 2"/>
          <p:cNvSpPr txBox="1"/>
          <p:nvPr/>
        </p:nvSpPr>
        <p:spPr>
          <a:xfrm>
            <a:off x="1325880" y="3291840"/>
            <a:ext cx="7223760" cy="9875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Read-only access, transparent algorithms and bill-based verification make every figure explainable and safe to connect.</a:t>
            </a:r>
            <a:endParaRPr lang="en-US" sz="1500" dirty="0"/>
          </a:p>
        </p:txBody>
      </p:sp>
      <p:sp>
        <p:nvSpPr>
          <p:cNvPr id="11" name="Conclusion card 3"/>
          <p:cNvSpPr/>
          <p:nvPr/>
        </p:nvSpPr>
        <p:spPr>
          <a:xfrm>
            <a:off x="457200" y="4389120"/>
            <a:ext cx="8229600" cy="987552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2" name="Conclusion icon 3 circle"/>
          <p:cNvSpPr/>
          <p:nvPr/>
        </p:nvSpPr>
        <p:spPr>
          <a:xfrm>
            <a:off x="594360" y="4617720"/>
            <a:ext cx="530352" cy="530352"/>
          </a:xfrm>
          <a:prstGeom prst="ellipse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pic>
        <p:nvPicPr>
          <p:cNvPr id="13" name="Conclusion icon 3" descr="Conclusion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" y="4750308"/>
            <a:ext cx="265176" cy="265176"/>
          </a:xfrm>
          <a:prstGeom prst="rect">
            <a:avLst/>
          </a:prstGeom>
        </p:spPr>
      </p:pic>
      <p:sp>
        <p:nvSpPr>
          <p:cNvPr id="14" name="Conclusion text 3"/>
          <p:cNvSpPr txBox="1"/>
          <p:nvPr/>
        </p:nvSpPr>
        <p:spPr>
          <a:xfrm>
            <a:off x="1325880" y="4389120"/>
            <a:ext cx="7223760" cy="9875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All objectives met: 27 of 27 tests passed; the demo reported $262.94 a month of open waste and $33.44 a month of verified savings at 94 % accuracy.</a:t>
            </a:r>
            <a:endParaRPr lang="en-US" sz="1500" dirty="0"/>
          </a:p>
        </p:txBody>
      </p:sp>
      <p:sp>
        <p:nvSpPr>
          <p:cNvPr id="15" name="Loop chip Signal"/>
          <p:cNvSpPr/>
          <p:nvPr/>
        </p:nvSpPr>
        <p:spPr>
          <a:xfrm>
            <a:off x="457200" y="5669280"/>
            <a:ext cx="1280160" cy="54864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16" name="Loop chip label Signal"/>
          <p:cNvSpPr txBox="1"/>
          <p:nvPr/>
        </p:nvSpPr>
        <p:spPr>
          <a:xfrm>
            <a:off x="457200" y="56692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Signal</a:t>
            </a:r>
            <a:endParaRPr lang="en-US" sz="1300" dirty="0"/>
          </a:p>
        </p:txBody>
      </p:sp>
      <p:sp>
        <p:nvSpPr>
          <p:cNvPr id="17" name="Loop chip Context"/>
          <p:cNvSpPr/>
          <p:nvPr/>
        </p:nvSpPr>
        <p:spPr>
          <a:xfrm>
            <a:off x="1828800" y="5669280"/>
            <a:ext cx="1280160" cy="54864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18" name="Loop chip label Context"/>
          <p:cNvSpPr txBox="1"/>
          <p:nvPr/>
        </p:nvSpPr>
        <p:spPr>
          <a:xfrm>
            <a:off x="1828800" y="56692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Context</a:t>
            </a:r>
            <a:endParaRPr lang="en-US" sz="1300" dirty="0"/>
          </a:p>
        </p:txBody>
      </p:sp>
      <p:sp>
        <p:nvSpPr>
          <p:cNvPr id="19" name="Loop chip Finding"/>
          <p:cNvSpPr/>
          <p:nvPr/>
        </p:nvSpPr>
        <p:spPr>
          <a:xfrm>
            <a:off x="3200400" y="5669280"/>
            <a:ext cx="1280160" cy="54864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20" name="Loop chip label Finding"/>
          <p:cNvSpPr txBox="1"/>
          <p:nvPr/>
        </p:nvSpPr>
        <p:spPr>
          <a:xfrm>
            <a:off x="3200400" y="56692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Finding</a:t>
            </a:r>
            <a:endParaRPr lang="en-US" sz="1300" dirty="0"/>
          </a:p>
        </p:txBody>
      </p:sp>
      <p:sp>
        <p:nvSpPr>
          <p:cNvPr id="21" name="Loop chip Ownership"/>
          <p:cNvSpPr/>
          <p:nvPr/>
        </p:nvSpPr>
        <p:spPr>
          <a:xfrm>
            <a:off x="4572000" y="5669280"/>
            <a:ext cx="1280160" cy="54864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22" name="Loop chip label Ownership"/>
          <p:cNvSpPr txBox="1"/>
          <p:nvPr/>
        </p:nvSpPr>
        <p:spPr>
          <a:xfrm>
            <a:off x="4572000" y="56692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Ownership</a:t>
            </a:r>
            <a:endParaRPr lang="en-US" sz="1300" dirty="0"/>
          </a:p>
        </p:txBody>
      </p:sp>
      <p:sp>
        <p:nvSpPr>
          <p:cNvPr id="23" name="Loop chip Action"/>
          <p:cNvSpPr/>
          <p:nvPr/>
        </p:nvSpPr>
        <p:spPr>
          <a:xfrm>
            <a:off x="5943600" y="5669280"/>
            <a:ext cx="1280160" cy="54864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24" name="Loop chip label Action"/>
          <p:cNvSpPr txBox="1"/>
          <p:nvPr/>
        </p:nvSpPr>
        <p:spPr>
          <a:xfrm>
            <a:off x="5943600" y="56692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Action</a:t>
            </a:r>
            <a:endParaRPr lang="en-US" sz="1300" dirty="0"/>
          </a:p>
        </p:txBody>
      </p:sp>
      <p:sp>
        <p:nvSpPr>
          <p:cNvPr id="25" name="Loop chip Verification"/>
          <p:cNvSpPr/>
          <p:nvPr/>
        </p:nvSpPr>
        <p:spPr>
          <a:xfrm>
            <a:off x="7315200" y="5669280"/>
            <a:ext cx="1280160" cy="548640"/>
          </a:xfrm>
          <a:prstGeom prst="roundRect">
            <a:avLst>
              <a:gd name="adj" fmla="val 13333"/>
            </a:avLst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26" name="Loop chip label Verification"/>
          <p:cNvSpPr txBox="1"/>
          <p:nvPr/>
        </p:nvSpPr>
        <p:spPr>
          <a:xfrm>
            <a:off x="7315200" y="56692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Verification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922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365760" y="12801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Limitations and Future Enhancements</a:t>
            </a:r>
            <a:endParaRPr lang="en-US" sz="3000" dirty="0"/>
          </a:p>
        </p:txBody>
      </p:sp>
      <p:sp>
        <p:nvSpPr>
          <p:cNvPr id="3" name="Limitations card"/>
          <p:cNvSpPr/>
          <p:nvPr/>
        </p:nvSpPr>
        <p:spPr>
          <a:xfrm>
            <a:off x="457200" y="2194560"/>
            <a:ext cx="4023360" cy="4206240"/>
          </a:xfrm>
          <a:prstGeom prst="roundRect">
            <a:avLst>
              <a:gd name="adj" fmla="val 1818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Future card"/>
          <p:cNvSpPr/>
          <p:nvPr/>
        </p:nvSpPr>
        <p:spPr>
          <a:xfrm>
            <a:off x="4663440" y="2194560"/>
            <a:ext cx="4023360" cy="4206240"/>
          </a:xfrm>
          <a:prstGeom prst="roundRect">
            <a:avLst>
              <a:gd name="adj" fmla="val 1818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" name="Limitations heading"/>
          <p:cNvSpPr txBox="1"/>
          <p:nvPr/>
        </p:nvSpPr>
        <p:spPr>
          <a:xfrm>
            <a:off x="594360" y="2240280"/>
            <a:ext cx="374904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Limitations</a:t>
            </a:r>
            <a:endParaRPr lang="en-US" sz="2000" dirty="0"/>
          </a:p>
        </p:txBody>
      </p:sp>
      <p:sp>
        <p:nvSpPr>
          <p:cNvPr id="6" name="Limitations list"/>
          <p:cNvSpPr txBox="1"/>
          <p:nvPr/>
        </p:nvSpPr>
        <p:spPr>
          <a:xfrm>
            <a:off x="594360" y="2697480"/>
            <a:ext cx="3749040" cy="3657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Verification takes about a week, because billing data lags.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Right-sizing uses CPU and network only; memory is not measured.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Creators older than 90 days are known only through tags.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Scheduler, login throttle and SQLite make it single-instance.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AWS and FOCUS support are less deep than Azure.</a:t>
            </a:r>
            <a:endParaRPr lang="en-US" sz="1600" dirty="0"/>
          </a:p>
        </p:txBody>
      </p:sp>
      <p:sp>
        <p:nvSpPr>
          <p:cNvPr id="7" name="Future heading"/>
          <p:cNvSpPr txBox="1"/>
          <p:nvPr/>
        </p:nvSpPr>
        <p:spPr>
          <a:xfrm>
            <a:off x="4800600" y="2240280"/>
            <a:ext cx="374904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Future Enhancements</a:t>
            </a:r>
            <a:endParaRPr lang="en-US" sz="2000" dirty="0"/>
          </a:p>
        </p:txBody>
      </p:sp>
      <p:sp>
        <p:nvSpPr>
          <p:cNvPr id="8" name="Future list"/>
          <p:cNvSpPr txBox="1"/>
          <p:nvPr/>
        </p:nvSpPr>
        <p:spPr>
          <a:xfrm>
            <a:off x="4800600" y="2697480"/>
            <a:ext cx="3749040" cy="3657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Sign-in with Microsoft Entra ID (OpenID Connect).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E-mail, Teams and Slack notifications.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Google Cloud collector and deeper AWS coverage.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Reservation and savings-plan analysis.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Tag-compliance policies and showback reports.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Approval-gated remediation; PostgreSQL with a shared job queue.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922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365760" y="128016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References</a:t>
            </a:r>
            <a:endParaRPr lang="en-US" sz="3000" dirty="0"/>
          </a:p>
        </p:txBody>
      </p:sp>
      <p:sp>
        <p:nvSpPr>
          <p:cNvPr id="3" name="References list"/>
          <p:cNvSpPr txBox="1"/>
          <p:nvPr/>
        </p:nvSpPr>
        <p:spPr>
          <a:xfrm>
            <a:off x="548640" y="2286000"/>
            <a:ext cx="8046720" cy="4114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Microsoft, "Azure Cost Management and Billing documentation," Microsoft Learn.</a:t>
            </a:r>
            <a:endParaRPr lang="en-US" sz="16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FinOps Foundation, "What is FinOps?" and "FOCUS: FinOps Open Cost and Usage Specification."</a:t>
            </a:r>
            <a:endParaRPr lang="en-US" sz="16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S. Ramírez, "FastAPI framework documentation"; SQLAlchemy Project, "SQLAlchemy 2.0 documentation."</a:t>
            </a:r>
            <a:endParaRPr lang="en-US" sz="16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B. Iglewicz and D. C. Hoaglin, How to Detect and Handle Outliers, ASQC Quality Press, 1993.</a:t>
            </a:r>
            <a:endParaRPr lang="en-US" sz="16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C. C. Holt, "Forecasting seasonals and trends by exponentially weighted moving averages," Int. J. Forecasting, vol. 20, no. 1, 2004.</a:t>
            </a:r>
            <a:endParaRPr lang="en-US" sz="16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D. Hardt, Ed., "The OAuth 2.0 authorization framework," RFC 6749, IETF, 2012.</a:t>
            </a:r>
            <a:endParaRPr lang="en-US" sz="16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Microsoft, "Azure Resource Manager REST API reference," Microsoft Learn.</a:t>
            </a:r>
            <a:endParaRPr lang="en-US" sz="16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J. R. Storment and M. Fuller, Cloud FinOps, 2nd ed., O'Reilly Media, 2023.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9224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MKCET Mini Project">
  <a:themeElements>
    <a:clrScheme name="RMKCET Mini Project">
      <a:dk1>
        <a:srgbClr val="1A1A1A"/>
      </a:dk1>
      <a:lt1>
        <a:srgbClr val="FFFFFF"/>
      </a:lt1>
      <a:dk2>
        <a:srgbClr val="8B1A1A"/>
      </a:dk2>
      <a:lt2>
        <a:srgbClr val="EEF1F7"/>
      </a:lt2>
      <a:accent1>
        <a:srgbClr val="B22222"/>
      </a:accent1>
      <a:accent2>
        <a:srgbClr val="1E3A8A"/>
      </a:accent2>
      <a:accent3>
        <a:srgbClr val="2E7D32"/>
      </a:accent3>
      <a:accent4>
        <a:srgbClr val="FFFF4D"/>
      </a:accent4>
      <a:accent5>
        <a:srgbClr val="5B6270"/>
      </a:accent5>
      <a:accent6>
        <a:srgbClr val="D97706"/>
      </a:accent6>
      <a:hlink>
        <a:srgbClr val="1E3A8A"/>
      </a:hlink>
      <a:folHlink>
        <a:srgbClr val="5B6270"/>
      </a:folHlink>
    </a:clrScheme>
    <a:fontScheme name="RMKCET Mini Project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R.M.K. College of Engineering and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CloudPulse - Distributed Cloud Computing Mini Project</dc:title>
  <dc:subject>PptxGenJS Presentation</dc:subject>
  <dc:creator>Tamil Mani B, Vishnu Vardhan S, Yuvaraj U</dc:creator>
  <cp:lastModifiedBy>Tamil Mani B, Vishnu Vardhan S, Yuvaraj U</cp:lastModifiedBy>
  <cp:revision>1</cp:revision>
  <dcterms:created xsi:type="dcterms:W3CDTF">2026-10-12T11:43:25Z</dcterms:created>
  <dcterms:modified xsi:type="dcterms:W3CDTF">2026-10-12T11:43:25Z</dcterms:modified>
</cp:coreProperties>
</file>