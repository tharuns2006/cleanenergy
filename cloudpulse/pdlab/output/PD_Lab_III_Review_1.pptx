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26679" y="0"/>
            <a:ext cx="4465015" cy="685800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605993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566928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78"/>
                </a:solidFill>
                <a:latin typeface="Calibri"/>
              </a:rPr>
              <a:t>R.M.K. College of Engineering and Technology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78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B5532B"/>
                </a:solidFill>
                <a:latin typeface="Calibri"/>
              </a:rPr>
              <a:t>REVIEW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1E2A32"/>
                </a:solidFill>
                <a:latin typeface="Cambria"/>
              </a:rPr>
              <a:t>CloudPulse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1E2A32"/>
                </a:solidFill>
                <a:latin typeface="Cambria"/>
              </a:rPr>
              <a:t>A cloud cost monitoring and optimisation platform that proves its savings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78"/>
                </a:solidFill>
                <a:latin typeface="Calibri"/>
              </a:rPr>
              <a:t>Product Development Lab III  ·  24AI511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78"/>
                </a:solidFill>
                <a:latin typeface="Calibri"/>
              </a:rPr>
              <a:t>Review date: [DD / 10 / 2026]     Supervisor: [name]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46304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B5532B"/>
                </a:solidFill>
                <a:latin typeface="Calibr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202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Tamil Mani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2860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788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Theja J 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154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657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Varunesh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023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5262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Viswajith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8920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9893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78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What we will walk 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6537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The pain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0195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9572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9689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Abstract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334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2724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2841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3649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5876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5993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0965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6 –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59028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828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86537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Proposed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190195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39572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59689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Functional requirements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26334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12724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2918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32841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Non-functional requirements and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33649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5876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0233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05993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References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0965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59028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The pain point: waste that nobody owns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E2A32"/>
                </a:solidFill>
                <a:latin typeface="Calibri"/>
              </a:rPr>
              <a:t>A forgotten resource keeps billing quietly. Each one is small; together they decide whether a student's free credit or a team's monthly budget survives.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89320" y="1783080"/>
          <a:ext cx="5532120" cy="28346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2011680"/>
                <a:gridCol w="11887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 spc="80">
                          <a:solidFill>
                            <a:srgbClr val="6B7278"/>
                          </a:solidFill>
                          <a:latin typeface="Calibri"/>
                        </a:rPr>
                        <a:t>LEFTOVER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80">
                          <a:solidFill>
                            <a:srgbClr val="6B7278"/>
                          </a:solidFill>
                          <a:latin typeface="Calibri"/>
                        </a:rPr>
                        <a:t>WHY IT HURTS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80">
                          <a:solidFill>
                            <a:srgbClr val="6B7278"/>
                          </a:solidFill>
                          <a:latin typeface="Calibri"/>
                        </a:rPr>
                        <a:t>EXAMPLE COST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VM shut down from inside the OS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Looks stopped, but compute is still billed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$70.08 / month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Disk left after a project ended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Billed per gigabyte until it is deleted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$19.71 / month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Static public IP on nothing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Billed hourly even when unattached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$3.65 / month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Snapshot of a deleted disk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Nobody remembers why it exists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$3.20 / month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329184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B5532B"/>
                </a:solidFill>
                <a:latin typeface="Calibri"/>
              </a:rPr>
              <a:t>No owner. </a:t>
            </a:r>
            <a:r>
              <a:rPr sz="1700">
                <a:solidFill>
                  <a:srgbClr val="1E2A32"/>
                </a:solidFill>
                <a:latin typeface="Calibri"/>
              </a:rPr>
              <a:t>Tags are often missing, so nobody knows who can switch it off.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B5532B"/>
                </a:solidFill>
                <a:latin typeface="Calibri"/>
              </a:rPr>
              <a:t>No priority. </a:t>
            </a:r>
            <a:r>
              <a:rPr sz="1700">
                <a:solidFill>
                  <a:srgbClr val="1E2A32"/>
                </a:solidFill>
                <a:latin typeface="Calibri"/>
              </a:rPr>
              <a:t>A $200 VM and a $3 IP look equally urgent in a long list.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B5532B"/>
                </a:solidFill>
                <a:latin typeface="Calibri"/>
              </a:rPr>
              <a:t>No proof. </a:t>
            </a:r>
            <a:r>
              <a:rPr sz="1700">
                <a:solidFill>
                  <a:srgbClr val="1E2A32"/>
                </a:solidFill>
                <a:latin typeface="Calibri"/>
              </a:rPr>
              <a:t>A closed ticket is not evidence. Only a lower bill 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48920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5532B"/>
                </a:solidFill>
                <a:latin typeface="Cambria"/>
              </a:rPr>
              <a:t>Example costs are taken from our demo workspace, not from a customer.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035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1E2A32"/>
                </a:solidFill>
                <a:latin typeface="Calibri"/>
              </a:rPr>
              <a:t>Organisations and students who run workloads on Azure and AWS keep paying for resources nobody uses: virtual machines shut down the wrong way that still bill for compute, disks left behind after a project, public IPs attached to nothing. Cost consoles show how much was spent, but not who owns the waste, what to fix first, or whether a fix really saved money.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1E2A32"/>
                </a:solidFill>
                <a:latin typeface="Calibri"/>
              </a:rPr>
              <a:t>CloudPulse connects to an Azure subscription with a read-only identity, finds the waste and spend anomalies, forecasts budget breaches, assigns every finding to the person who created the resource, and counts a saving only after seven days of billed cost confirm it. In the demo workspace it reports $262.94 a month still to fix and $33.44 a month already verified.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3977639" cy="411480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0574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IN NUMBERS  (DEMO WORKSPACE)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5146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$262.94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0175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a month of open waste, 6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355848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$33.44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85876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a month verified on the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197096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94 %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70001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estimate accuracy of verified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503834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54126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automated tests passing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WHAT WE SET OUT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19656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Collect </a:t>
            </a:r>
            <a:r>
              <a:rPr sz="1800">
                <a:solidFill>
                  <a:srgbClr val="1E2A32"/>
                </a:solidFill>
                <a:latin typeface="Calibri"/>
              </a:rPr>
              <a:t>cost, inventory, usage, advice and audit data from Azure with a least-privilege, read-only identity.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386584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Detect </a:t>
            </a:r>
            <a:r>
              <a:rPr sz="1800">
                <a:solidFill>
                  <a:srgbClr val="1E2A32"/>
                </a:solidFill>
                <a:latin typeface="Calibri"/>
              </a:rPr>
              <a:t>unattached disks, unused public IPs, orphaned snapshots, stopped-but-billed, idle and oversized VMs.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099816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9544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461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Explain </a:t>
            </a:r>
            <a:r>
              <a:rPr sz="1800">
                <a:solidFill>
                  <a:srgbClr val="1E2A32"/>
                </a:solidFill>
                <a:latin typeface="Calibri"/>
              </a:rPr>
              <a:t>abnormal daily spend and forecast month-end spend and the day a budget will be breached.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813048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2277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59352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Assign </a:t>
            </a:r>
            <a:r>
              <a:rPr sz="1800">
                <a:solidFill>
                  <a:srgbClr val="1E2A32"/>
                </a:solidFill>
                <a:latin typeface="Calibri"/>
              </a:rPr>
              <a:t>every finding to the person who created the resource, using the Activity Log and tags.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4526280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3600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72584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Verify </a:t>
            </a:r>
            <a:r>
              <a:rPr sz="1800">
                <a:solidFill>
                  <a:srgbClr val="1E2A32"/>
                </a:solidFill>
                <a:latin typeface="Calibri"/>
              </a:rPr>
              <a:t>each saving against the next bill, and withdraw it if the waste comes 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5239512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85816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Prove </a:t>
            </a:r>
            <a:r>
              <a:rPr sz="1800">
                <a:solidFill>
                  <a:srgbClr val="1E2A32"/>
                </a:solidFill>
                <a:latin typeface="Calibri"/>
              </a:rPr>
              <a:t>the result with an Azure test environment that plants real waste and 27 automated tests.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5952744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LITERATURE REVIEW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Literature review: what exists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E2A32"/>
                </a:solidFill>
                <a:latin typeface="Cambria"/>
              </a:rPr>
              <a:t>Native consoles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3200400" cy="19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78"/>
                </a:solidFill>
                <a:latin typeface="Calibri"/>
              </a:rPr>
              <a:t>Azure Cost Management, Azure Advisor, AWS Cost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Accurate and free. One provider each, and they stop at a report or a generic tip.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E2A32"/>
                </a:solidFill>
                <a:latin typeface="Cambria"/>
              </a:rPr>
              <a:t>Commercial platforms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3200400" cy="19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78"/>
                </a:solidFill>
                <a:latin typeface="Calibri"/>
              </a:rPr>
              <a:t>Multi-cloud dashboards, cost allocation, budgets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4612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Broad, but closed: the scoring is not visible and broad access is usually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828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E2A32"/>
                </a:solidFill>
                <a:latin typeface="Cambria"/>
              </a:rPr>
              <a:t>Home-made scripts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286000"/>
            <a:ext cx="3200400" cy="19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4688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78"/>
                </a:solidFill>
                <a:latin typeface="Calibri"/>
              </a:rPr>
              <a:t>List idle resources with the CLI or an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24612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Cheap and flexible, but one-off: no workflow, history or verification.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83480"/>
            <a:ext cx="10607040" cy="109728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1663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B5532B"/>
                </a:solidFill>
                <a:latin typeface="Calibri"/>
              </a:rPr>
              <a:t>FinOps practice. </a:t>
            </a:r>
            <a:r>
              <a:rPr sz="1600">
                <a:solidFill>
                  <a:srgbClr val="1E2A32"/>
                </a:solidFill>
                <a:latin typeface="Calibri"/>
              </a:rPr>
              <a:t>The FinOps Foundation frames cloud cost as shared accountability: inform, optimise, operate. Visibility alone is not the goal; a problem is solved when its owner acts and the saving shows on the bill [3], [9].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LITERATURE REVIEW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Literature review: techniques we build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28800"/>
          <a:ext cx="10607040" cy="3968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4114800"/>
                <a:gridCol w="41148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WHAT WE TAKE FROM IT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Cloud model and billing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Armbrust et al. 2010 [1]; NIST SP 800-145 [2]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Pay-as-you-go and elasticity explain why waste appears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Anomaly detection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Chandola, Banerjee, Kumar 2009 [5]; Iglewicz and Hoaglin 1993 [6]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Median / MAD z-score, cut-off 3.5, same-weekday baseline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Forecasting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Holt 1957 / 2004 [7]; Hyndman and Athanasopoulos [8]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Holt linear smoothing with weekday factors and an 80 % range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FinOps practice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FinOps Foundation [3]; Storment and Fuller [9]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Inform, optimise, operate as the product loop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Identity and access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OAuth 2.0, RFC 6749 [10]; Azure RBAC [11]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Service principal, client-credentials token, Reader roles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Cost-data format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FinOps FOCUS specification [12]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Import of multi-cloud bills in one open format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LITERATURE REVIEW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Literature review: the gap we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83080"/>
          <a:ext cx="10607040" cy="38679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1554480"/>
                <a:gridCol w="1737360"/>
                <a:gridCol w="1371600"/>
                <a:gridCol w="173736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NATIVE CONSOLES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COMMERCIAL TOOLS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SCRIPTS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CLOUDPULSE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Spend dashboards and breakdown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Rarely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Idle and oversized resource detection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Creator of a resource from the audit log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Varies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Automatic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Task workflow: assign, start, fix, dismiss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Varies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One explainable priority score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Varies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Saving checked against the next bill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Rarely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Saving withdrawn when waste returns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Rarely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Read-only access, open algorithms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Varies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Depends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5532B"/>
                </a:solidFill>
                <a:latin typeface="Cambria"/>
              </a:rPr>
              <a:t>Gap: owner attribution, prioritisation and verified savings are rarely combined in one transparent, read-only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Proposed solution: the cost-to-action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627632" cy="201168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353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532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3533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Read the bill, inventory, metrics, advice and audit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9464" y="2011680"/>
            <a:ext cx="1627632" cy="201168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2148840"/>
            <a:ext cx="1353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532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25146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3017520"/>
            <a:ext cx="13533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Price each signal per month from billed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2011680"/>
            <a:ext cx="1627632" cy="201168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148840"/>
            <a:ext cx="1353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532B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146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017520"/>
            <a:ext cx="13533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One de-duplicated, scored task with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011680"/>
            <a:ext cx="1627632" cy="201168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148840"/>
            <a:ext cx="1353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532B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5146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017520"/>
            <a:ext cx="13533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Creator from the Activity Log, tags second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46136" y="2011680"/>
            <a:ext cx="1627632" cy="201168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2148840"/>
            <a:ext cx="1353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532B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25146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017520"/>
            <a:ext cx="13533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Assign, start, fix, dismiss or snooze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8360" y="2011680"/>
            <a:ext cx="1627632" cy="201168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148840"/>
            <a:ext cx="1353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AF7F2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5146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AF7F2"/>
                </a:solidFill>
                <a:latin typeface="Cambria"/>
              </a:rPr>
              <a:t>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17520"/>
            <a:ext cx="13533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AF7F2"/>
                </a:solidFill>
                <a:latin typeface="Calibri"/>
              </a:rPr>
              <a:t>Compare 7 days of bill before and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80560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B5532B"/>
                </a:solidFill>
                <a:latin typeface="Calibri"/>
              </a:rPr>
              <a:t>Read-only. </a:t>
            </a:r>
            <a:r>
              <a:rPr sz="1600">
                <a:solidFill>
                  <a:srgbClr val="1E2A32"/>
                </a:solidFill>
                <a:latin typeface="Calibri"/>
              </a:rPr>
              <a:t>CloudPulse never creates, changes or deletes anything in a cloud account. It suggests the command; a person runs it.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B5532B"/>
                </a:solidFill>
                <a:latin typeface="Calibri"/>
              </a:rPr>
              <a:t>Honest savings. </a:t>
            </a:r>
            <a:r>
              <a:rPr sz="1600">
                <a:solidFill>
                  <a:srgbClr val="1E2A32"/>
                </a:solidFill>
                <a:latin typeface="Calibri"/>
              </a:rPr>
              <a:t>A saving counts only after the bill drops, and the finding reopens if the resource comes back.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5720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5532B"/>
                </a:solidFill>
                <a:latin typeface="Cambria"/>
              </a:rPr>
              <a:t>Everything on the next slides exists to serve this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REQUIREMENTS 1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28800"/>
          <a:ext cx="10607040" cy="4480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4480560"/>
                <a:gridCol w="731520"/>
                <a:gridCol w="475488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FR1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Sign in with e-mail and password; read-only demo workspace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FR7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Anomalies with drivers; month forecast and budget breach date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FR2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Create workspaces; connect Azure (service principal, CLI, managed identity)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FR8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Finding workflow: assign, start, resolve, dismiss, snooze, comment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FR3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Read daily cost by service and by resource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FR9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7-day before / after verification and a savings ledger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FR4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Read inventory, VM power state and VM metrics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FR10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Import FOCUS bills; set a monthly budget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FR5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Detect waste and rank it by priority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FR11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Notifications, audit log and CSV export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FR6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Find the creator of each resource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REQUIREMENTS 2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Non-functional requirements and planned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A32"/>
                </a:solidFill>
                <a:latin typeface="Cambria"/>
              </a:rPr>
              <a:t>Qualities we will hold the system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–  </a:t>
            </a:r>
            <a:r>
              <a:rPr sz="1500" b="1">
                <a:solidFill>
                  <a:srgbClr val="1E2A32"/>
                </a:solidFill>
                <a:latin typeface="Calibri"/>
              </a:rPr>
              <a:t>Security: </a:t>
            </a:r>
            <a:r>
              <a:rPr sz="1500">
                <a:solidFill>
                  <a:srgbClr val="1E2A32"/>
                </a:solidFill>
                <a:latin typeface="Calibri"/>
              </a:rPr>
              <a:t>least privilege, encrypted secrets, hashed passwords, rate limit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–  </a:t>
            </a:r>
            <a:r>
              <a:rPr sz="1500" b="1">
                <a:solidFill>
                  <a:srgbClr val="1E2A32"/>
                </a:solidFill>
                <a:latin typeface="Calibri"/>
              </a:rPr>
              <a:t>Reliability: </a:t>
            </a:r>
            <a:r>
              <a:rPr sz="1500">
                <a:solidFill>
                  <a:srgbClr val="1E2A32"/>
                </a:solidFill>
                <a:latin typeface="Calibri"/>
              </a:rPr>
              <a:t>retry on 429 / 5xx; one failing source must not stop a sync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–  </a:t>
            </a:r>
            <a:r>
              <a:rPr sz="1500" b="1">
                <a:solidFill>
                  <a:srgbClr val="1E2A32"/>
                </a:solidFill>
                <a:latin typeface="Calibri"/>
              </a:rPr>
              <a:t>Explainability: </a:t>
            </a:r>
            <a:r>
              <a:rPr sz="1500">
                <a:solidFill>
                  <a:srgbClr val="1E2A32"/>
                </a:solidFill>
                <a:latin typeface="Calibri"/>
              </a:rPr>
              <a:t>every score can be recomputed by hand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–  </a:t>
            </a:r>
            <a:r>
              <a:rPr sz="1500" b="1">
                <a:solidFill>
                  <a:srgbClr val="1E2A32"/>
                </a:solidFill>
                <a:latin typeface="Calibri"/>
              </a:rPr>
              <a:t>Portability: </a:t>
            </a:r>
            <a:r>
              <a:rPr sz="1500">
                <a:solidFill>
                  <a:srgbClr val="1E2A32"/>
                </a:solidFill>
                <a:latin typeface="Calibri"/>
              </a:rPr>
              <a:t>laptop, Docker, Render, Azure App Service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–  </a:t>
            </a:r>
            <a:r>
              <a:rPr sz="1500" b="1">
                <a:solidFill>
                  <a:srgbClr val="1E2A32"/>
                </a:solidFill>
                <a:latin typeface="Calibri"/>
              </a:rPr>
              <a:t>Usability: </a:t>
            </a:r>
            <a:r>
              <a:rPr sz="1500">
                <a:solidFill>
                  <a:srgbClr val="1E2A32"/>
                </a:solidFill>
                <a:latin typeface="Calibri"/>
              </a:rPr>
              <a:t>no framework to install; works from 400 px phones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–  </a:t>
            </a:r>
            <a:r>
              <a:rPr sz="1500" b="1">
                <a:solidFill>
                  <a:srgbClr val="1E2A32"/>
                </a:solidFill>
                <a:latin typeface="Calibri"/>
              </a:rPr>
              <a:t>Cost: </a:t>
            </a:r>
            <a:r>
              <a:rPr sz="1500">
                <a:solidFill>
                  <a:srgbClr val="1E2A32"/>
                </a:solidFill>
                <a:latin typeface="Calibri"/>
              </a:rPr>
              <a:t>free-tier hosting; test workload about $2.3 a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A32"/>
                </a:solidFill>
                <a:latin typeface="Cambria"/>
              </a:rPr>
              <a:t>Tools we plan to use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286000"/>
          <a:ext cx="4937760" cy="3520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32918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Language and API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Python 3, FastAPI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SQLAlchemy, SQLite / PostgreSQL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HTML, CSS, JavaScript, SVG charts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Cloud access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Azure CLI, ARM REST APIs, azure-identity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Packaging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Docker, GitHub Actions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pytest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References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7665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[1] M. Armbrust et al., “A view of cloud computing,” Commun. ACM, 53(4), 2010.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[2] P. Mell and T. Grance, NIST SP 800-145, 2011.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[3] FinOps Foundation, “What is FinOps?”  finops.org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[5] V. Chandola, A. Banerjee, V. Kumar, “Anomaly detection: a survey,” ACM Comput. Surv., 41(3), 2009.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[6] B. Iglewicz and D. Hoaglin, How to Detect and Handle Outliers, 1993.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[7] C. C. Holt, Int. J. Forecasting, 20(1), 2004.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[8] R. Hyndman and G. Athanasopoulos, Forecasting: Principles and Practice, 3rd ed.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[9] J. Storment and M. Fuller, Cloud FinOps, 2nd ed., O'Reilly, 2023.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[10] RFC 6749, The OAuth 2.0 Authorization Framework.   [11] Microsoft Learn, Azure built-in roles.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A32"/>
                </a:solidFill>
                <a:latin typeface="Calibri"/>
              </a:rPr>
              <a:t>[12] FinOps Foundation, FOCUS specification.  focus.finops.org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828800"/>
            <a:ext cx="3429000" cy="411480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574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B5532B"/>
                </a:solidFill>
                <a:latin typeface="Calibri"/>
              </a:rPr>
              <a:t>NEXT: REVIEW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514600"/>
            <a:ext cx="2926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B5532B"/>
                </a:solidFill>
                <a:latin typeface="Calibri"/>
              </a:rPr>
              <a:t>–  </a:t>
            </a:r>
            <a:r>
              <a:rPr sz="1600">
                <a:solidFill>
                  <a:srgbClr val="1E2A32"/>
                </a:solidFill>
                <a:latin typeface="Calibri"/>
              </a:rPr>
              <a:t>System architecture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B5532B"/>
                </a:solidFill>
                <a:latin typeface="Calibri"/>
              </a:rPr>
              <a:t>–  </a:t>
            </a:r>
            <a:r>
              <a:rPr sz="1600">
                <a:solidFill>
                  <a:srgbClr val="1E2A32"/>
                </a:solidFill>
                <a:latin typeface="Calibri"/>
              </a:rPr>
              <a:t>Azure credential flow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B5532B"/>
                </a:solidFill>
                <a:latin typeface="Calibri"/>
              </a:rPr>
              <a:t>–  </a:t>
            </a:r>
            <a:r>
              <a:rPr sz="1600">
                <a:solidFill>
                  <a:srgbClr val="1E2A32"/>
                </a:solidFill>
                <a:latin typeface="Calibri"/>
              </a:rPr>
              <a:t>Module-by-module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1E2A32"/>
                </a:solidFill>
                <a:latin typeface="Cambria"/>
              </a:rPr>
              <a:t>Thank you. 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